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sldIdLst>
    <p:sldId id="256" r:id="rId2"/>
    <p:sldId id="257" r:id="rId3"/>
    <p:sldId id="30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1" r:id="rId24"/>
    <p:sldId id="282" r:id="rId25"/>
    <p:sldId id="283" r:id="rId26"/>
    <p:sldId id="284" r:id="rId27"/>
    <p:sldId id="285" r:id="rId28"/>
    <p:sldId id="304" r:id="rId29"/>
    <p:sldId id="287" r:id="rId30"/>
    <p:sldId id="305" r:id="rId31"/>
    <p:sldId id="306" r:id="rId32"/>
    <p:sldId id="286" r:id="rId33"/>
    <p:sldId id="307" r:id="rId34"/>
    <p:sldId id="308" r:id="rId35"/>
    <p:sldId id="289" r:id="rId36"/>
    <p:sldId id="290" r:id="rId37"/>
    <p:sldId id="292" r:id="rId38"/>
    <p:sldId id="291" r:id="rId39"/>
    <p:sldId id="309" r:id="rId40"/>
    <p:sldId id="297" r:id="rId41"/>
    <p:sldId id="298" r:id="rId42"/>
    <p:sldId id="299" r:id="rId43"/>
    <p:sldId id="300" r:id="rId44"/>
    <p:sldId id="301" r:id="rId45"/>
    <p:sldId id="310" r:id="rId46"/>
    <p:sldId id="311" r:id="rId47"/>
    <p:sldId id="312" r:id="rId48"/>
    <p:sldId id="313" r:id="rId49"/>
    <p:sldId id="315" r:id="rId50"/>
    <p:sldId id="316" r:id="rId51"/>
    <p:sldId id="317" r:id="rId52"/>
    <p:sldId id="318" r:id="rId53"/>
    <p:sldId id="319" r:id="rId54"/>
    <p:sldId id="320" r:id="rId55"/>
    <p:sldId id="279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  <a:srgbClr val="00CC99"/>
    <a:srgbClr val="008000"/>
    <a:srgbClr val="33CCCC"/>
    <a:srgbClr val="FF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5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28.wmf"/><Relationship Id="rId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w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2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54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6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742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89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87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5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30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5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6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60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79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C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9C9D36A-C97D-42C9-B5F8-6BB46200C797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564D37D-573D-435B-9294-05C6E67D4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0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11" Type="http://schemas.openxmlformats.org/officeDocument/2006/relationships/image" Target="../media/image35.png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4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4.wmf"/><Relationship Id="rId26" Type="http://schemas.openxmlformats.org/officeDocument/2006/relationships/image" Target="../media/image48.wmf"/><Relationship Id="rId3" Type="http://schemas.openxmlformats.org/officeDocument/2006/relationships/oleObject" Target="../embeddings/oleObject35.bin"/><Relationship Id="rId21" Type="http://schemas.openxmlformats.org/officeDocument/2006/relationships/oleObject" Target="../embeddings/oleObject44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47.wmf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5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2.wmf"/><Relationship Id="rId22" Type="http://schemas.openxmlformats.org/officeDocument/2006/relationships/image" Target="../media/image46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8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09979" y="1129323"/>
            <a:ext cx="9966960" cy="2310767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uk-UA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 ШТУЧНИХ базисних матриць</a:t>
            </a:r>
            <a:r>
              <a:rPr lang="en-US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uk-UA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uk-UA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вирішення задач Еволюційного МОДЕЛЮВАННЯ СКЛАДОВИХ </a:t>
            </a:r>
            <a:r>
              <a:rPr lang="uk-UA" sz="2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ЕКОЛОГО-ЕКОНОМІЧНОЇ СТРАТЕГІЇ МІЖГАЛУЗЕВОЇ ВЗАЄМОДІЇ </a:t>
            </a:r>
            <a:endParaRPr lang="en-US" sz="2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11130" y="3991429"/>
            <a:ext cx="9060070" cy="2394856"/>
          </a:xfrm>
        </p:spPr>
        <p:txBody>
          <a:bodyPr>
            <a:normAutofit/>
          </a:bodyPr>
          <a:lstStyle/>
          <a:p>
            <a:pPr algn="r"/>
            <a:r>
              <a:rPr lang="uk-UA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Виконали:</a:t>
            </a: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студентки 3 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курсу групи </a:t>
            </a: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КН-31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спеціальності Комп’ютерні науки</a:t>
            </a:r>
            <a:b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Антоневич Марина Миколаївна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Дідик </a:t>
            </a: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Анна Андріївна</a:t>
            </a:r>
            <a:b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Копчик Тамара Анатоліївна</a:t>
            </a:r>
            <a:b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Семенюк Дар'я Юріївна</a:t>
            </a:r>
            <a:b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Керівники: </a:t>
            </a: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Кудін Володимир Іванович</a:t>
            </a:r>
            <a:r>
              <a:rPr lang="uk-UA" sz="18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uk-UA" sz="18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Онищенко Андрій Михайлович</a:t>
            </a:r>
            <a:endParaRPr lang="ru-RU" sz="1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71764" y="435428"/>
            <a:ext cx="104433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Київський національний університет імені Тараса Шевченка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інформаційних технологій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інтелектуальних та інформаційних систем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55533" y="6201619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Київ - 2018 р.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45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Зміст роботи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Еволюційне моделювання складових еколого-економічної стратегії міжгалузевої взаємодії</a:t>
            </a:r>
            <a:endParaRPr lang="uk-UA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Матричні псевдобазисні алгоритми</a:t>
            </a:r>
          </a:p>
          <a:p>
            <a:pPr algn="just"/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Програмна реалізація алгоритмів</a:t>
            </a:r>
          </a:p>
          <a:p>
            <a:endParaRPr lang="uk-UA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4565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 предметної сфери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 роботи: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дослідити методи вирішення еколого-економічних проблем та створити програмну реалізацію методу штучних базисних матриць, дослідити, як зміни моделі впливають на зміну кінцевого результату.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Об’єктом дослідження </a:t>
            </a: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є галузева структура економічної системи в умовах дії обмежень Паризької угоди.</a:t>
            </a:r>
            <a:endParaRPr lang="uk-UA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є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моделі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міжгалузевої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умовах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дії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обмежень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Паризької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угоди.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9297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115" y="2380342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ЕКОЛОГІЧНО-ЕКОНОМІЧН</a:t>
            </a:r>
            <a:r>
              <a:rPr lang="uk-UA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 СКЛАДОВА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570514" y="3736702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94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кологічно-економічна складова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7.pn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76187" y="2438401"/>
            <a:ext cx="4600575" cy="3057525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624286" y="2259003"/>
            <a:ext cx="5994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 нового концептуального </a:t>
            </a:r>
            <a:r>
              <a:rPr lang="uk-UA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підходу </a:t>
            </a:r>
            <a:r>
              <a:rPr lang="uk-UA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включається: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</a:t>
            </a: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нової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концепції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екологічної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економіки</a:t>
            </a: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пошук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кращих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шляхів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міжурядового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співробітництва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охорони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навколишнього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збереження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розвиток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низькоенергетичних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7330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кологічно-економічна складова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image5.pn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56509" y="1701510"/>
            <a:ext cx="8451273" cy="3784889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1856509" y="5678422"/>
            <a:ext cx="8451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Міжнародна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конференція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навколишнього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середовища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розвитку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Ріо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-де-Жанейро (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Саміт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Землі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- 1992 </a:t>
            </a:r>
            <a:r>
              <a:rPr lang="ru-RU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рік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5114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кологічно-економічна складова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age11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44668" y="2057400"/>
            <a:ext cx="4695825" cy="3810000"/>
          </a:xfrm>
          <a:prstGeom prst="rect">
            <a:avLst/>
          </a:prstGeom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08073" y="2057400"/>
            <a:ext cx="5791199" cy="3810000"/>
          </a:xfrm>
        </p:spPr>
        <p:txBody>
          <a:bodyPr/>
          <a:lstStyle/>
          <a:p>
            <a:pPr marL="4572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1997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рік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прийняття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Кіотського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визначив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умови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скорочення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викидів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окремих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країн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Кінцевою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угод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досягнення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стабілізації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концентрації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парникових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газів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атмосфері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такому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буде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переносити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неминучий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техногенний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вплив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кліматичну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систему.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279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кологічно-економічна складова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10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898073" y="1859642"/>
            <a:ext cx="8229600" cy="3959267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140351" y="6035551"/>
            <a:ext cx="9872871" cy="350154"/>
          </a:xfrm>
        </p:spPr>
        <p:txBody>
          <a:bodyPr>
            <a:normAutofit lnSpcReduction="10000"/>
          </a:bodyPr>
          <a:lstStyle/>
          <a:p>
            <a:pPr marL="45720" indent="0" algn="ctr">
              <a:buNone/>
            </a:pPr>
            <a:r>
              <a:rPr lang="ru-RU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Паризька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угода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клімат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5557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9477" y="2227942"/>
            <a:ext cx="11042073" cy="1356360"/>
          </a:xfrm>
        </p:spPr>
        <p:txBody>
          <a:bodyPr>
            <a:normAutofit fontScale="90000"/>
          </a:bodyPr>
          <a:lstStyle/>
          <a:p>
            <a:pPr algn="ctr"/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 ЕКОЛОГІЧНО-ЕКОНОМІЧНОЇ ВЗАЄМОДІЇ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570514" y="3736702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7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just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одель 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Леонтьєва-Форда та її 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узагальнення:</a:t>
            </a:r>
          </a:p>
          <a:p>
            <a:pPr algn="just"/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Математичні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моделі таких процесів  описується в класі лінійних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матричних систем.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таких задач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застосувати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базисних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матриць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Досягнення адекватності моделі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досліджуваному процесу, зокрема встановлення її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коректності, зумовлює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розробку методів аналізу властивостей,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впливу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структурних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змін та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 обмежуючих умов.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057442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Заголовок 1"/>
          <p:cNvSpPr txBox="1">
            <a:spLocks/>
          </p:cNvSpPr>
          <p:nvPr/>
        </p:nvSpPr>
        <p:spPr>
          <a:xfrm>
            <a:off x="1140351" y="580571"/>
            <a:ext cx="9875520" cy="9289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Леонтьєва-Форда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140351" y="3408218"/>
            <a:ext cx="4276776" cy="1925782"/>
          </a:xfrm>
          <a:prstGeom prst="ellipse">
            <a:avLst/>
          </a:prstGeom>
          <a:solidFill>
            <a:schemeClr val="bg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основне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виробництво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483098" y="3408218"/>
            <a:ext cx="4276776" cy="1925782"/>
          </a:xfrm>
          <a:prstGeom prst="ellipse">
            <a:avLst/>
          </a:prstGeom>
          <a:solidFill>
            <a:schemeClr val="bg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допоміжне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виробництво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Стрелка вниз 8"/>
          <p:cNvSpPr/>
          <p:nvPr/>
        </p:nvSpPr>
        <p:spPr>
          <a:xfrm>
            <a:off x="2710702" y="2050473"/>
            <a:ext cx="1136073" cy="1066800"/>
          </a:xfrm>
          <a:prstGeom prst="downArrow">
            <a:avLst/>
          </a:prstGeom>
          <a:solidFill>
            <a:srgbClr val="00CC9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Стрелка вниз 9"/>
          <p:cNvSpPr/>
          <p:nvPr/>
        </p:nvSpPr>
        <p:spPr>
          <a:xfrm>
            <a:off x="8053449" y="2050473"/>
            <a:ext cx="1136073" cy="1066800"/>
          </a:xfrm>
          <a:prstGeom prst="downArrow">
            <a:avLst/>
          </a:prstGeom>
          <a:solidFill>
            <a:srgbClr val="00CC9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564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124691" y="79511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274327"/>
              </p:ext>
            </p:extLst>
          </p:nvPr>
        </p:nvGraphicFramePr>
        <p:xfrm>
          <a:off x="4030570" y="1569573"/>
          <a:ext cx="4282157" cy="92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" r:id="rId3" imgW="2260600" imgH="711200" progId="Equation.DSMT4">
                  <p:embed/>
                </p:oleObj>
              </mc:Choice>
              <mc:Fallback>
                <p:oleObj r:id="rId3" imgW="2260600" imgH="71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570" y="1569573"/>
                        <a:ext cx="4282157" cy="9297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992405"/>
              </p:ext>
            </p:extLst>
          </p:nvPr>
        </p:nvGraphicFramePr>
        <p:xfrm>
          <a:off x="721160" y="2509033"/>
          <a:ext cx="2693554" cy="5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7" r:id="rId5" imgW="2032000" imgH="444500" progId="Equation.DSMT4">
                  <p:embed/>
                </p:oleObj>
              </mc:Choice>
              <mc:Fallback>
                <p:oleObj r:id="rId5" imgW="2032000" imgH="444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60" y="2509033"/>
                        <a:ext cx="2693554" cy="5029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045101" y="43226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396420"/>
              </p:ext>
            </p:extLst>
          </p:nvPr>
        </p:nvGraphicFramePr>
        <p:xfrm>
          <a:off x="721160" y="3059096"/>
          <a:ext cx="2593541" cy="47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8" r:id="rId7" imgW="2120900" imgH="444500" progId="Equation.DSMT4">
                  <p:embed/>
                </p:oleObj>
              </mc:Choice>
              <mc:Fallback>
                <p:oleObj r:id="rId7" imgW="2120900" imgH="444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60" y="3059096"/>
                        <a:ext cx="2593541" cy="476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045101" y="47702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096233" y="520367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482519"/>
              </p:ext>
            </p:extLst>
          </p:nvPr>
        </p:nvGraphicFramePr>
        <p:xfrm>
          <a:off x="721160" y="3600505"/>
          <a:ext cx="2593541" cy="425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9" r:id="rId9" imgW="2094591" imgH="444307" progId="Equation.DSMT4">
                  <p:embed/>
                </p:oleObj>
              </mc:Choice>
              <mc:Fallback>
                <p:oleObj r:id="rId9" imgW="2094591" imgH="44430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60" y="3600505"/>
                        <a:ext cx="2593541" cy="4250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073676" y="56656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1140351" y="5614294"/>
            <a:ext cx="1523181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783070"/>
              </p:ext>
            </p:extLst>
          </p:nvPr>
        </p:nvGraphicFramePr>
        <p:xfrm>
          <a:off x="721160" y="4101695"/>
          <a:ext cx="2493528" cy="482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" r:id="rId11" imgW="2184400" imgH="444500" progId="Equation.DSMT4">
                  <p:embed/>
                </p:oleObj>
              </mc:Choice>
              <mc:Fallback>
                <p:oleObj r:id="rId11" imgW="2184400" imgH="4445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60" y="4101695"/>
                        <a:ext cx="2493528" cy="482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1140351" y="6061969"/>
            <a:ext cx="1523181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414714" y="2589601"/>
            <a:ext cx="5171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стовпчик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об’ємів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виробництва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87491" y="3134405"/>
            <a:ext cx="629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вектор-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стовпчик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об’ємів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знищених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забруднюючих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речовин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88986" y="3702989"/>
            <a:ext cx="4682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вектор-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стовпчик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об’ємів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кінцевої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19594" y="4194748"/>
            <a:ext cx="5317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вектор-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стовпчик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об’ємів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незнищених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забруднень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 flipV="1">
            <a:off x="811664" y="4947087"/>
            <a:ext cx="1262282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" name="Объект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19049"/>
              </p:ext>
            </p:extLst>
          </p:nvPr>
        </p:nvGraphicFramePr>
        <p:xfrm>
          <a:off x="474262" y="4718088"/>
          <a:ext cx="1332178" cy="532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" r:id="rId13" imgW="1143000" imgH="457200" progId="Equation.DSMT4">
                  <p:embed/>
                </p:oleObj>
              </mc:Choice>
              <mc:Fallback>
                <p:oleObj r:id="rId13" imgW="1143000" imgH="457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262" y="4718088"/>
                        <a:ext cx="1332178" cy="5328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0"/>
          <p:cNvSpPr>
            <a:spLocks noChangeArrowheads="1"/>
          </p:cNvSpPr>
          <p:nvPr/>
        </p:nvSpPr>
        <p:spPr bwMode="auto">
          <a:xfrm flipV="1">
            <a:off x="6256502" y="10423374"/>
            <a:ext cx="11194264" cy="6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 flipV="1">
            <a:off x="811664" y="5819080"/>
            <a:ext cx="1233825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6" name="Объект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62249"/>
              </p:ext>
            </p:extLst>
          </p:nvPr>
        </p:nvGraphicFramePr>
        <p:xfrm>
          <a:off x="457084" y="5716990"/>
          <a:ext cx="1419385" cy="502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2" r:id="rId15" imgW="1371600" imgH="482600" progId="Equation.DSMT4">
                  <p:embed/>
                </p:oleObj>
              </mc:Choice>
              <mc:Fallback>
                <p:oleObj r:id="rId15" imgW="1371600" imgH="482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84" y="5716990"/>
                        <a:ext cx="1419385" cy="5026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3"/>
          <p:cNvSpPr>
            <a:spLocks noChangeArrowheads="1"/>
          </p:cNvSpPr>
          <p:nvPr/>
        </p:nvSpPr>
        <p:spPr bwMode="auto">
          <a:xfrm flipV="1">
            <a:off x="1096233" y="6389274"/>
            <a:ext cx="1233825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 flipV="1">
            <a:off x="5444837" y="5036991"/>
            <a:ext cx="1081219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9" name="Объект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795392"/>
              </p:ext>
            </p:extLst>
          </p:nvPr>
        </p:nvGraphicFramePr>
        <p:xfrm>
          <a:off x="6205990" y="4775942"/>
          <a:ext cx="1504868" cy="522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3" r:id="rId17" imgW="1397000" imgH="482600" progId="Equation.DSMT4">
                  <p:embed/>
                </p:oleObj>
              </mc:Choice>
              <mc:Fallback>
                <p:oleObj r:id="rId17" imgW="1397000" imgH="482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990" y="4775942"/>
                        <a:ext cx="1504868" cy="5220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6"/>
          <p:cNvSpPr>
            <a:spLocks noChangeArrowheads="1"/>
          </p:cNvSpPr>
          <p:nvPr/>
        </p:nvSpPr>
        <p:spPr bwMode="auto">
          <a:xfrm flipV="1">
            <a:off x="5444837" y="5522766"/>
            <a:ext cx="1081219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 flipV="1">
            <a:off x="5444836" y="5705820"/>
            <a:ext cx="1963859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" name="Объект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910694"/>
              </p:ext>
            </p:extLst>
          </p:nvPr>
        </p:nvGraphicFramePr>
        <p:xfrm>
          <a:off x="6205990" y="5801877"/>
          <a:ext cx="1297836" cy="49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4" r:id="rId19" imgW="1206500" imgH="457200" progId="Equation.DSMT4">
                  <p:embed/>
                </p:oleObj>
              </mc:Choice>
              <mc:Fallback>
                <p:oleObj r:id="rId19" imgW="1206500" imgH="4572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990" y="5801877"/>
                        <a:ext cx="1297836" cy="4905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29"/>
          <p:cNvSpPr>
            <a:spLocks noChangeArrowheads="1"/>
          </p:cNvSpPr>
          <p:nvPr/>
        </p:nvSpPr>
        <p:spPr bwMode="auto">
          <a:xfrm flipV="1">
            <a:off x="5444836" y="6163020"/>
            <a:ext cx="1963859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931351" y="112120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9" name="Rectangle 34"/>
          <p:cNvSpPr>
            <a:spLocks noChangeArrowheads="1"/>
          </p:cNvSpPr>
          <p:nvPr/>
        </p:nvSpPr>
        <p:spPr bwMode="auto">
          <a:xfrm>
            <a:off x="2017930" y="5684214"/>
            <a:ext cx="40498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прямокутна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витрат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одиницю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знищення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забруднювачів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0" name="Прямоугольник 39"/>
          <p:cNvSpPr/>
          <p:nvPr/>
        </p:nvSpPr>
        <p:spPr>
          <a:xfrm>
            <a:off x="1571972" y="4660725"/>
            <a:ext cx="4634018" cy="1047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- </a:t>
            </a:r>
            <a:r>
              <a:rPr lang="ru-RU" dirty="0" err="1" smtClean="0">
                <a:latin typeface="Times New Roman" panose="02020603050405020304" pitchFamily="18" charset="0"/>
                <a:ea typeface="Arial" panose="020B0604020202020204" pitchFamily="34" charset="0"/>
              </a:rPr>
              <a:t>квадратна</a:t>
            </a:r>
            <a:r>
              <a:rPr lang="ru-RU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Arial" panose="020B0604020202020204" pitchFamily="34" charset="0"/>
              </a:rPr>
              <a:t>матриця</a:t>
            </a:r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Arial" panose="020B0604020202020204" pitchFamily="34" charset="0"/>
              </a:rPr>
              <a:t>коефіцієнтів</a:t>
            </a:r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Arial" panose="020B0604020202020204" pitchFamily="34" charset="0"/>
              </a:rPr>
              <a:t>прямих</a:t>
            </a:r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Arial" panose="020B0604020202020204" pitchFamily="34" charset="0"/>
              </a:rPr>
              <a:t>витрат</a:t>
            </a:r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Arial" panose="020B0604020202020204" pitchFamily="34" charset="0"/>
              </a:rPr>
              <a:t>продукції</a:t>
            </a:r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ea typeface="Arial" panose="020B0604020202020204" pitchFamily="34" charset="0"/>
              </a:rPr>
              <a:t>виробництво</a:t>
            </a:r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Arial" panose="020B0604020202020204" pitchFamily="34" charset="0"/>
              </a:rPr>
              <a:t>одиниці</a:t>
            </a:r>
            <a:r>
              <a:rPr lang="ru-RU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Arial" panose="020B0604020202020204" pitchFamily="34" charset="0"/>
              </a:rPr>
              <a:t>продукції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79902" y="4754062"/>
            <a:ext cx="3977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прямокутна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випуску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забруднювачів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одиницю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виготовленої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777341" y="5717453"/>
            <a:ext cx="4030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uk-UA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кв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матриця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випуску забруднювачів на одиницю знищення забруднювачів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42127" y="1788056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324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770908"/>
            <a:ext cx="9872871" cy="3325091"/>
          </a:xfrm>
        </p:spPr>
        <p:txBody>
          <a:bodyPr/>
          <a:lstStyle/>
          <a:p>
            <a:pPr marL="45720" indent="0"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Нехай:</a:t>
            </a:r>
          </a:p>
          <a:p>
            <a:pPr>
              <a:buFontTx/>
              <a:buChar char="-"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коефіцієнти </a:t>
            </a:r>
          </a:p>
          <a:p>
            <a:pPr>
              <a:buFontTx/>
              <a:buChar char="-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 технологічних способів дорівнює кількості видів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продукції;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кожному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технологічному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виробляється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один вид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продукції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Tx/>
              <a:buChar char="-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атриці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невідємними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Tx/>
              <a:buChar char="-"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економічний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зміст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Леонтьєва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-Форда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вимагає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щоб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змінні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невід’ємними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03335"/>
              </p:ext>
            </p:extLst>
          </p:nvPr>
        </p:nvGraphicFramePr>
        <p:xfrm>
          <a:off x="4030570" y="1569573"/>
          <a:ext cx="4282157" cy="92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" r:id="rId3" imgW="2260600" imgH="711200" progId="Equation.DSMT4">
                  <p:embed/>
                </p:oleObj>
              </mc:Choice>
              <mc:Fallback>
                <p:oleObj r:id="rId3" imgW="2260600" imgH="711200" progId="Equation.DSMT4">
                  <p:embed/>
                  <p:pic>
                    <p:nvPicPr>
                      <p:cNvPr id="6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570" y="1569573"/>
                        <a:ext cx="4282157" cy="9297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515959"/>
              </p:ext>
            </p:extLst>
          </p:nvPr>
        </p:nvGraphicFramePr>
        <p:xfrm>
          <a:off x="3048000" y="3283527"/>
          <a:ext cx="6953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" r:id="rId5" imgW="698500" imgH="368300" progId="Equation.DSMT4">
                  <p:embed/>
                </p:oleObj>
              </mc:Choice>
              <mc:Fallback>
                <p:oleObj r:id="rId5" imgW="698500" imgH="368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83527"/>
                        <a:ext cx="695325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154181"/>
              </p:ext>
            </p:extLst>
          </p:nvPr>
        </p:nvGraphicFramePr>
        <p:xfrm>
          <a:off x="4030570" y="3283527"/>
          <a:ext cx="6953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" r:id="rId7" imgW="698500" imgH="368300" progId="Equation.DSMT4">
                  <p:embed/>
                </p:oleObj>
              </mc:Choice>
              <mc:Fallback>
                <p:oleObj r:id="rId7" imgW="698500" imgH="368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570" y="3283527"/>
                        <a:ext cx="695325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422022"/>
              </p:ext>
            </p:extLst>
          </p:nvPr>
        </p:nvGraphicFramePr>
        <p:xfrm>
          <a:off x="5013140" y="3283527"/>
          <a:ext cx="7143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8" r:id="rId9" imgW="711200" imgH="368300" progId="Equation.DSMT4">
                  <p:embed/>
                </p:oleObj>
              </mc:Choice>
              <mc:Fallback>
                <p:oleObj r:id="rId9" imgW="711200" imgH="3683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140" y="3283527"/>
                        <a:ext cx="714375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489987"/>
              </p:ext>
            </p:extLst>
          </p:nvPr>
        </p:nvGraphicFramePr>
        <p:xfrm>
          <a:off x="5861612" y="3283527"/>
          <a:ext cx="7143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" r:id="rId11" imgW="711200" imgH="368300" progId="Equation.DSMT4">
                  <p:embed/>
                </p:oleObj>
              </mc:Choice>
              <mc:Fallback>
                <p:oleObj r:id="rId11" imgW="711200" imgH="3683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612" y="3283527"/>
                        <a:ext cx="714375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" name="Объект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732291"/>
              </p:ext>
            </p:extLst>
          </p:nvPr>
        </p:nvGraphicFramePr>
        <p:xfrm>
          <a:off x="4432863" y="4733281"/>
          <a:ext cx="714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0" r:id="rId13" imgW="710891" imgH="330057" progId="Equation.DSMT4">
                  <p:embed/>
                </p:oleObj>
              </mc:Choice>
              <mc:Fallback>
                <p:oleObj r:id="rId13" imgW="710891" imgH="33005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863" y="4733281"/>
                        <a:ext cx="714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6" name="Объект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464913"/>
              </p:ext>
            </p:extLst>
          </p:nvPr>
        </p:nvGraphicFramePr>
        <p:xfrm>
          <a:off x="5370327" y="4733281"/>
          <a:ext cx="714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1" r:id="rId15" imgW="710891" imgH="330057" progId="Equation.DSMT4">
                  <p:embed/>
                </p:oleObj>
              </mc:Choice>
              <mc:Fallback>
                <p:oleObj r:id="rId15" imgW="710891" imgH="33005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327" y="4733281"/>
                        <a:ext cx="714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9" name="Объект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692166"/>
              </p:ext>
            </p:extLst>
          </p:nvPr>
        </p:nvGraphicFramePr>
        <p:xfrm>
          <a:off x="6218799" y="4733280"/>
          <a:ext cx="714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2" r:id="rId17" imgW="710891" imgH="330057" progId="Equation.DSMT4">
                  <p:embed/>
                </p:oleObj>
              </mc:Choice>
              <mc:Fallback>
                <p:oleObj r:id="rId17" imgW="710891" imgH="330057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799" y="4733280"/>
                        <a:ext cx="714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" name="Объект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258773"/>
              </p:ext>
            </p:extLst>
          </p:nvPr>
        </p:nvGraphicFramePr>
        <p:xfrm>
          <a:off x="7062509" y="4724194"/>
          <a:ext cx="7239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3" r:id="rId19" imgW="723586" imgH="330057" progId="Equation.DSMT4">
                  <p:embed/>
                </p:oleObj>
              </mc:Choice>
              <mc:Fallback>
                <p:oleObj r:id="rId19" imgW="723586" imgH="330057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509" y="4724194"/>
                        <a:ext cx="7239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509185" y="1792654"/>
            <a:ext cx="6203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2484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0351" y="2785560"/>
            <a:ext cx="9872871" cy="1833298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задачі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наведеної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вище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балансової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схеми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витрати-випуск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врахувати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витрати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Паризькою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угодою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емісійних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парникових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газів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галузей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основного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виробництва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210529" y="1741223"/>
            <a:ext cx="138023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612503"/>
              </p:ext>
            </p:extLst>
          </p:nvPr>
        </p:nvGraphicFramePr>
        <p:xfrm>
          <a:off x="4210529" y="1741224"/>
          <a:ext cx="3748346" cy="928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" r:id="rId3" imgW="2959100" imgH="736600" progId="Equation.DSMT4">
                  <p:embed/>
                </p:oleObj>
              </mc:Choice>
              <mc:Fallback>
                <p:oleObj r:id="rId3" imgW="2959100" imgH="736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529" y="1741224"/>
                        <a:ext cx="3748346" cy="9280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210529" y="2474648"/>
            <a:ext cx="138023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366996"/>
              </p:ext>
            </p:extLst>
          </p:nvPr>
        </p:nvGraphicFramePr>
        <p:xfrm>
          <a:off x="1386841" y="5223743"/>
          <a:ext cx="484822" cy="413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" r:id="rId5" imgW="393529" imgH="330057" progId="Equation.DSMT4">
                  <p:embed/>
                </p:oleObj>
              </mc:Choice>
              <mc:Fallback>
                <p:oleObj r:id="rId5" imgW="393529" imgH="33005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841" y="5223743"/>
                        <a:ext cx="484822" cy="4138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304800" y="6381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897985" y="5258094"/>
            <a:ext cx="8400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витрати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пов’язані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викидами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парникових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газів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11"/>
          <p:cNvSpPr>
            <a:spLocks noChangeArrowheads="1"/>
          </p:cNvSpPr>
          <p:nvPr/>
        </p:nvSpPr>
        <p:spPr bwMode="auto">
          <a:xfrm>
            <a:off x="1386840" y="57803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7" name="Объект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600996"/>
              </p:ext>
            </p:extLst>
          </p:nvPr>
        </p:nvGraphicFramePr>
        <p:xfrm>
          <a:off x="1386840" y="5679656"/>
          <a:ext cx="1402629" cy="57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r:id="rId7" imgW="1231366" imgH="482391" progId="Equation.DSMT4">
                  <p:embed/>
                </p:oleObj>
              </mc:Choice>
              <mc:Fallback>
                <p:oleObj r:id="rId7" imgW="1231366" imgH="48239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840" y="5679656"/>
                        <a:ext cx="1402629" cy="575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12"/>
          <p:cNvSpPr>
            <a:spLocks noChangeArrowheads="1"/>
          </p:cNvSpPr>
          <p:nvPr/>
        </p:nvSpPr>
        <p:spPr bwMode="auto">
          <a:xfrm>
            <a:off x="1386840" y="62660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2897985" y="5759782"/>
            <a:ext cx="8032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прямокутна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витрат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одиницю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викидів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забруднювача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21486" y="1925830"/>
            <a:ext cx="5148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2847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Векторно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-матричне представлення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294743" y="1712684"/>
            <a:ext cx="1251021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163318"/>
              </p:ext>
            </p:extLst>
          </p:nvPr>
        </p:nvGraphicFramePr>
        <p:xfrm>
          <a:off x="2582027" y="2989942"/>
          <a:ext cx="7246219" cy="1248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2" r:id="rId3" imgW="4254500" imgH="736600" progId="Equation.DSMT4">
                  <p:embed/>
                </p:oleObj>
              </mc:Choice>
              <mc:Fallback>
                <p:oleObj r:id="rId3" imgW="4254500" imgH="736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027" y="2989942"/>
                        <a:ext cx="7246219" cy="12482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75792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294743" y="1712684"/>
            <a:ext cx="1251021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140350" y="4830667"/>
            <a:ext cx="10061049" cy="1643966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 економічних обмежень вимагає від моделі змін коефіцієнтів технологічних матриць, при цьому розглядається умова збалансованого функціонування економічної системи в умовах обмежень по емісіям парникових газів.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ÐÐ¾Ð²âÑÐ·Ð°Ð½Ðµ Ð·Ð¾Ð±ÑÐ°Ð¶ÐµÐ½Ð½Ñ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51" y="1929538"/>
            <a:ext cx="4986336" cy="2465298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86513" y="1816278"/>
            <a:ext cx="48148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Екологізація промислового виробництва розглядається як проблема управління об’єктом економіки шляхом пристосування всіх виробничих функцій, факторів та інфраструктури виробництва до вимог екологічної безпеки, зокрема, урахування вимог зі скорочення емісій парникових газів.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9470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294743" y="1712684"/>
            <a:ext cx="1251021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5355770" y="2365826"/>
            <a:ext cx="5776215" cy="2987771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 даної проблеми реалізовано за допомогою методу базисних матриць, з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астосування яких дозволить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вивчити можливість побудови оптимальної технологічної бази галузі та створити соціально-економічні передумови змістовних перетворень у сфері еколого-економічної взаємодії.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Ð ÐµÐ·ÑÐ»ÑÑÐ°Ñ Ð¿Ð¾ÑÑÐºÑ Ð·Ð¾Ð±ÑÐ°Ð¶ÐµÐ½Ñ Ð·Ð° Ð·Ð°Ð¿Ð¸ÑÐ¾Ð¼ &quot;ÐµÐºÐ¾Ð»Ð¾Ð³Ð¾-ÐµÐºÐ¾Ð½Ð¾Ð¼ÑÑÐ½Ð¾Ñ Ð²Ð·Ð°ÑÐ¼Ð¾Ð´ÑÑ&quot;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51" y="2365826"/>
            <a:ext cx="3072402" cy="298777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0069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0352" y="4078716"/>
            <a:ext cx="10236984" cy="1012889"/>
          </a:xfrm>
        </p:spPr>
        <p:txBody>
          <a:bodyPr/>
          <a:lstStyle/>
          <a:p>
            <a:pPr marL="45720" indent="0" algn="just"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Будемо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також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розглядати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збурень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відношенню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лінійних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алгебраїчних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рівнянь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виду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923721"/>
              </p:ext>
            </p:extLst>
          </p:nvPr>
        </p:nvGraphicFramePr>
        <p:xfrm>
          <a:off x="4696046" y="1695497"/>
          <a:ext cx="2331131" cy="702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9" r:id="rId3" imgW="787400" imgH="241300" progId="Equation.DSMT4">
                  <p:embed/>
                </p:oleObj>
              </mc:Choice>
              <mc:Fallback>
                <p:oleObj r:id="rId3" imgW="7874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6046" y="1695497"/>
                        <a:ext cx="2331131" cy="7021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769209"/>
              </p:ext>
            </p:extLst>
          </p:nvPr>
        </p:nvGraphicFramePr>
        <p:xfrm>
          <a:off x="1140351" y="3083182"/>
          <a:ext cx="25050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0" r:id="rId5" imgW="2501900" imgH="736600" progId="Equation.DSMT4">
                  <p:embed/>
                </p:oleObj>
              </mc:Choice>
              <mc:Fallback>
                <p:oleObj r:id="rId5" imgW="2501900" imgH="736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351" y="3083182"/>
                        <a:ext cx="2505075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004427"/>
              </p:ext>
            </p:extLst>
          </p:nvPr>
        </p:nvGraphicFramePr>
        <p:xfrm>
          <a:off x="4298765" y="2835152"/>
          <a:ext cx="39147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1" r:id="rId7" imgW="3911600" imgH="1028700" progId="Equation.DSMT4">
                  <p:embed/>
                </p:oleObj>
              </mc:Choice>
              <mc:Fallback>
                <p:oleObj r:id="rId7" imgW="3911600" imgH="1028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765" y="2835152"/>
                        <a:ext cx="3914775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452928"/>
              </p:ext>
            </p:extLst>
          </p:nvPr>
        </p:nvGraphicFramePr>
        <p:xfrm>
          <a:off x="8759001" y="2992696"/>
          <a:ext cx="21336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2" r:id="rId9" imgW="2133600" imgH="736600" progId="Equation.DSMT4">
                  <p:embed/>
                </p:oleObj>
              </mc:Choice>
              <mc:Fallback>
                <p:oleObj r:id="rId9" imgW="2133600" imgH="736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9001" y="2992696"/>
                        <a:ext cx="21336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5" name="Объект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273318"/>
              </p:ext>
            </p:extLst>
          </p:nvPr>
        </p:nvGraphicFramePr>
        <p:xfrm>
          <a:off x="5281335" y="4937973"/>
          <a:ext cx="1654501" cy="617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3" r:id="rId11" imgW="787400" imgH="292100" progId="Equation.DSMT4">
                  <p:embed/>
                </p:oleObj>
              </mc:Choice>
              <mc:Fallback>
                <p:oleObj r:id="rId11" imgW="787400" imgH="292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335" y="4937973"/>
                        <a:ext cx="1654501" cy="6179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7727858" y="1871216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27857" y="5075636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3081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7508" y="2146661"/>
            <a:ext cx="10236984" cy="872888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1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загальності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будемо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вважати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збурення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(3) проведено для 1-го рядка (k=1),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тобто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векторній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(4)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вигляд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923843"/>
              </p:ext>
            </p:extLst>
          </p:nvPr>
        </p:nvGraphicFramePr>
        <p:xfrm>
          <a:off x="3369200" y="1688863"/>
          <a:ext cx="1464058" cy="440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3" r:id="rId3" imgW="787400" imgH="241300" progId="Equation.DSMT4">
                  <p:embed/>
                </p:oleObj>
              </mc:Choice>
              <mc:Fallback>
                <p:oleObj r:id="rId3" imgW="787400" imgH="241300" progId="Equation.DSMT4">
                  <p:embed/>
                  <p:pic>
                    <p:nvPicPr>
                      <p:cNvPr id="7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9200" y="1688863"/>
                        <a:ext cx="1464058" cy="4409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5" name="Объект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815094"/>
              </p:ext>
            </p:extLst>
          </p:nvPr>
        </p:nvGraphicFramePr>
        <p:xfrm>
          <a:off x="6545942" y="1639895"/>
          <a:ext cx="1320801" cy="493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4" r:id="rId5" imgW="787400" imgH="292100" progId="Equation.DSMT4">
                  <p:embed/>
                </p:oleObj>
              </mc:Choice>
              <mc:Fallback>
                <p:oleObj r:id="rId5" imgW="787400" imgH="292100" progId="Equation.DSMT4">
                  <p:embed/>
                  <p:pic>
                    <p:nvPicPr>
                      <p:cNvPr id="35" name="Объект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5942" y="1639895"/>
                        <a:ext cx="1320801" cy="4933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153460" y="1654445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63287" y="1650001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113793"/>
              </p:ext>
            </p:extLst>
          </p:nvPr>
        </p:nvGraphicFramePr>
        <p:xfrm>
          <a:off x="4833258" y="2909098"/>
          <a:ext cx="2108827" cy="443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5" r:id="rId7" imgW="1675673" imgH="355446" progId="Equation.DSMT4">
                  <p:embed/>
                </p:oleObj>
              </mc:Choice>
              <mc:Fallback>
                <p:oleObj r:id="rId7" imgW="1675673" imgH="355446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258" y="2909098"/>
                        <a:ext cx="2108827" cy="4433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068624"/>
              </p:ext>
            </p:extLst>
          </p:nvPr>
        </p:nvGraphicFramePr>
        <p:xfrm>
          <a:off x="4833258" y="3978981"/>
          <a:ext cx="3009900" cy="864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96" r:id="rId9" imgW="3009900" imgH="812800" progId="Equation.DSMT4">
                  <p:embed/>
                </p:oleObj>
              </mc:Choice>
              <mc:Fallback>
                <p:oleObj r:id="rId9" imgW="3009900" imgH="812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258" y="3978981"/>
                        <a:ext cx="3009900" cy="8648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Стрелка вниз 20"/>
          <p:cNvSpPr/>
          <p:nvPr/>
        </p:nvSpPr>
        <p:spPr>
          <a:xfrm>
            <a:off x="5614248" y="3355340"/>
            <a:ext cx="546846" cy="555390"/>
          </a:xfrm>
          <a:prstGeom prst="downArrow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000161" y="5093323"/>
                <a:ext cx="10214331" cy="1173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Нехай для системи (3) знайдено розв’язок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sub>
                            </m:sSub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sub>
                            </m:sSub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nor/>
                      </m:rPr>
                      <a:rPr lang="uk-UA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та обернену матрицю  </m:t>
                    </m:r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uk-UA" sz="22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uk-UA" sz="2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uk-UA" sz="22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sz="2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uk-UA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uk-UA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sz="2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uk-UA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uk-UA" sz="2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sz="2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uk-UA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uk-UA" sz="2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sz="2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uk-UA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61" y="5093323"/>
                <a:ext cx="10214331" cy="1173335"/>
              </a:xfrm>
              <a:prstGeom prst="rect">
                <a:avLst/>
              </a:prstGeom>
              <a:blipFill>
                <a:blip r:embed="rId11"/>
                <a:stretch>
                  <a:fillRect l="-776" t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1318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952193"/>
              </p:ext>
            </p:extLst>
          </p:nvPr>
        </p:nvGraphicFramePr>
        <p:xfrm>
          <a:off x="5346649" y="2737326"/>
          <a:ext cx="1464058" cy="440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" r:id="rId3" imgW="787400" imgH="241300" progId="Equation.DSMT4">
                  <p:embed/>
                </p:oleObj>
              </mc:Choice>
              <mc:Fallback>
                <p:oleObj r:id="rId3" imgW="787400" imgH="241300" progId="Equation.DSMT4">
                  <p:embed/>
                  <p:pic>
                    <p:nvPicPr>
                      <p:cNvPr id="7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649" y="2737326"/>
                        <a:ext cx="1464058" cy="4409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1143000" y="2170894"/>
            <a:ext cx="9872871" cy="405546"/>
          </a:xfrm>
        </p:spPr>
        <p:txBody>
          <a:bodyPr>
            <a:no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або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генеративна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k-UA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породжуюча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відомими </a:t>
            </a:r>
            <a:r>
              <a:rPr lang="uk-UA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розв’язком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Объект 8"/>
          <p:cNvSpPr txBox="1">
            <a:spLocks/>
          </p:cNvSpPr>
          <p:nvPr/>
        </p:nvSpPr>
        <p:spPr>
          <a:xfrm>
            <a:off x="1135950" y="3469779"/>
            <a:ext cx="9872871" cy="405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обернена матриця,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яку ми будемо називати допоміжною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системою: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5346649" y="4086634"/>
            <a:ext cx="1578599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695688"/>
              </p:ext>
            </p:extLst>
          </p:nvPr>
        </p:nvGraphicFramePr>
        <p:xfrm>
          <a:off x="5346649" y="4086634"/>
          <a:ext cx="1381431" cy="51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7" r:id="rId5" imgW="520474" imgH="190417" progId="Equation.DSMT4">
                  <p:embed/>
                </p:oleObj>
              </mc:Choice>
              <mc:Fallback>
                <p:oleObj r:id="rId5" imgW="520474" imgH="190417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649" y="4086634"/>
                        <a:ext cx="1381431" cy="5116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Объект 8"/>
          <p:cNvSpPr txBox="1">
            <a:spLocks/>
          </p:cNvSpPr>
          <p:nvPr/>
        </p:nvSpPr>
        <p:spPr>
          <a:xfrm>
            <a:off x="1135950" y="4795446"/>
            <a:ext cx="9872871" cy="405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що зазнала змін в усіх чи окремих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елементах,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збурена»: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9" name="Объект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247210"/>
              </p:ext>
            </p:extLst>
          </p:nvPr>
        </p:nvGraphicFramePr>
        <p:xfrm>
          <a:off x="5346648" y="5247043"/>
          <a:ext cx="1381431" cy="542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8" name="Уравнение" r:id="rId7" imgW="533169" imgH="203112" progId="Equation.3">
                  <p:embed/>
                </p:oleObj>
              </mc:Choice>
              <mc:Fallback>
                <p:oleObj name="Уравнение" r:id="rId7" imgW="533169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648" y="5247043"/>
                        <a:ext cx="1381431" cy="5427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50571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Математичне моделювання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346650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1140351" y="1750731"/>
            <a:ext cx="10033000" cy="1359239"/>
          </a:xfrm>
        </p:spPr>
        <p:txBody>
          <a:bodyPr>
            <a:no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1.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Між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коефіцієнтами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розвинення нормалей обмежень   за рядками штучної базисної матриці, елементами обернених матриць, основних рішень,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обмежень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двох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суміжних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базисних рішеннях мають місце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співвідношення: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5" name="Объект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12568"/>
              </p:ext>
            </p:extLst>
          </p:nvPr>
        </p:nvGraphicFramePr>
        <p:xfrm>
          <a:off x="2992659" y="5714161"/>
          <a:ext cx="1324326" cy="418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9" r:id="rId3" imgW="1117115" imgH="355446" progId="Equation.DSMT4">
                  <p:embed/>
                </p:oleObj>
              </mc:Choice>
              <mc:Fallback>
                <p:oleObj r:id="rId3" imgW="1117115" imgH="355446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659" y="5714161"/>
                        <a:ext cx="1324326" cy="4188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7" name="Объект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851839"/>
              </p:ext>
            </p:extLst>
          </p:nvPr>
        </p:nvGraphicFramePr>
        <p:xfrm>
          <a:off x="4501572" y="2944797"/>
          <a:ext cx="743603" cy="286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0" r:id="rId5" imgW="508000" imgH="241300" progId="Equation.DSMT4">
                  <p:embed/>
                </p:oleObj>
              </mc:Choice>
              <mc:Fallback>
                <p:oleObj r:id="rId5" imgW="508000" imgH="2413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1572" y="2944797"/>
                        <a:ext cx="743603" cy="2863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9" name="Объект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514094"/>
              </p:ext>
            </p:extLst>
          </p:nvPr>
        </p:nvGraphicFramePr>
        <p:xfrm>
          <a:off x="1340321" y="3426889"/>
          <a:ext cx="1161509" cy="896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1" r:id="rId7" imgW="876300" imgH="673100" progId="Equation.DSMT4">
                  <p:embed/>
                </p:oleObj>
              </mc:Choice>
              <mc:Fallback>
                <p:oleObj r:id="rId7" imgW="876300" imgH="6731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321" y="3426889"/>
                        <a:ext cx="1161509" cy="8963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1" name="Объект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320236"/>
              </p:ext>
            </p:extLst>
          </p:nvPr>
        </p:nvGraphicFramePr>
        <p:xfrm>
          <a:off x="2719980" y="3460046"/>
          <a:ext cx="1819356" cy="787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2" r:id="rId9" imgW="1562100" imgH="673100" progId="Equation.DSMT4">
                  <p:embed/>
                </p:oleObj>
              </mc:Choice>
              <mc:Fallback>
                <p:oleObj r:id="rId9" imgW="1562100" imgH="6731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980" y="3460046"/>
                        <a:ext cx="1819356" cy="78764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9" name="Объект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992423"/>
              </p:ext>
            </p:extLst>
          </p:nvPr>
        </p:nvGraphicFramePr>
        <p:xfrm>
          <a:off x="1316365" y="4213835"/>
          <a:ext cx="1801449" cy="747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3" r:id="rId11" imgW="1676400" imgH="698500" progId="Equation.DSMT4">
                  <p:embed/>
                </p:oleObj>
              </mc:Choice>
              <mc:Fallback>
                <p:oleObj r:id="rId11" imgW="1676400" imgH="6985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365" y="4213835"/>
                        <a:ext cx="1801449" cy="74719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3" name="Объект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33147"/>
              </p:ext>
            </p:extLst>
          </p:nvPr>
        </p:nvGraphicFramePr>
        <p:xfrm>
          <a:off x="1304484" y="4916539"/>
          <a:ext cx="1197346" cy="759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4" r:id="rId13" imgW="1066337" imgH="672808" progId="Equation.DSMT4">
                  <p:embed/>
                </p:oleObj>
              </mc:Choice>
              <mc:Fallback>
                <p:oleObj r:id="rId13" imgW="1066337" imgH="672808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484" y="4916539"/>
                        <a:ext cx="1197346" cy="7590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884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5" name="Объект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650884"/>
              </p:ext>
            </p:extLst>
          </p:nvPr>
        </p:nvGraphicFramePr>
        <p:xfrm>
          <a:off x="2697024" y="4930112"/>
          <a:ext cx="1795401" cy="745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5" r:id="rId15" imgW="1625600" imgH="673100" progId="Equation.DSMT4">
                  <p:embed/>
                </p:oleObj>
              </mc:Choice>
              <mc:Fallback>
                <p:oleObj r:id="rId15" imgW="1625600" imgH="6731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024" y="4930112"/>
                        <a:ext cx="1795401" cy="74545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7" name="Объект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236601"/>
              </p:ext>
            </p:extLst>
          </p:nvPr>
        </p:nvGraphicFramePr>
        <p:xfrm>
          <a:off x="1378019" y="5727347"/>
          <a:ext cx="1281956" cy="39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6" r:id="rId17" imgW="1155199" imgH="355446" progId="Equation.DSMT4">
                  <p:embed/>
                </p:oleObj>
              </mc:Choice>
              <mc:Fallback>
                <p:oleObj r:id="rId17" imgW="1155199" imgH="355446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019" y="5727347"/>
                        <a:ext cx="1281956" cy="39200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9" name="Объект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81493"/>
              </p:ext>
            </p:extLst>
          </p:nvPr>
        </p:nvGraphicFramePr>
        <p:xfrm>
          <a:off x="4770949" y="5169706"/>
          <a:ext cx="705893" cy="309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7" r:id="rId19" imgW="545863" imgH="241195" progId="Equation.DSMT4">
                  <p:embed/>
                </p:oleObj>
              </mc:Choice>
              <mc:Fallback>
                <p:oleObj r:id="rId19" imgW="545863" imgH="241195" progId="Equation.DSMT4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949" y="5169706"/>
                        <a:ext cx="705893" cy="30960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925"/>
          <p:cNvSpPr>
            <a:spLocks noChangeArrowheads="1"/>
          </p:cNvSpPr>
          <p:nvPr/>
        </p:nvSpPr>
        <p:spPr bwMode="auto">
          <a:xfrm>
            <a:off x="5994400" y="56755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538130"/>
              </p:ext>
            </p:extLst>
          </p:nvPr>
        </p:nvGraphicFramePr>
        <p:xfrm>
          <a:off x="4649669" y="5747137"/>
          <a:ext cx="11811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2" r:id="rId21" imgW="1180588" imgH="355446" progId="Equation.DSMT4">
                  <p:embed/>
                </p:oleObj>
              </mc:Choice>
              <mc:Fallback>
                <p:oleObj r:id="rId21" imgW="1180588" imgH="355446" progId="Equation.DSMT4">
                  <p:embed/>
                  <p:pic>
                    <p:nvPicPr>
                      <p:cNvPr id="0" name="Object 9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9669" y="5747137"/>
                        <a:ext cx="11811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Объект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746687"/>
              </p:ext>
            </p:extLst>
          </p:nvPr>
        </p:nvGraphicFramePr>
        <p:xfrm>
          <a:off x="4785195" y="3717787"/>
          <a:ext cx="743603" cy="286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r:id="rId5" imgW="508000" imgH="241300" progId="Equation.DSMT4">
                  <p:embed/>
                </p:oleObj>
              </mc:Choice>
              <mc:Fallback>
                <p:oleObj r:id="rId5" imgW="508000" imgH="241300" progId="Equation.DSMT4">
                  <p:embed/>
                  <p:pic>
                    <p:nvPicPr>
                      <p:cNvPr id="57" name="Объект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5195" y="3717787"/>
                        <a:ext cx="743603" cy="2863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60"/>
          <p:cNvSpPr>
            <a:spLocks noChangeArrowheads="1"/>
          </p:cNvSpPr>
          <p:nvPr/>
        </p:nvSpPr>
        <p:spPr bwMode="auto">
          <a:xfrm>
            <a:off x="1369024" y="27883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168504"/>
              </p:ext>
            </p:extLst>
          </p:nvPr>
        </p:nvGraphicFramePr>
        <p:xfrm>
          <a:off x="1352769" y="2786211"/>
          <a:ext cx="9429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r:id="rId23" imgW="939392" imgH="672808" progId="Equation.DSMT4">
                  <p:embed/>
                </p:oleObj>
              </mc:Choice>
              <mc:Fallback>
                <p:oleObj r:id="rId23" imgW="939392" imgH="672808" progId="Equation.DSMT4">
                  <p:embed/>
                  <p:pic>
                    <p:nvPicPr>
                      <p:cNvPr id="0" name="Object 9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769" y="2786211"/>
                        <a:ext cx="942975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962"/>
          <p:cNvSpPr>
            <a:spLocks noChangeArrowheads="1"/>
          </p:cNvSpPr>
          <p:nvPr/>
        </p:nvSpPr>
        <p:spPr bwMode="auto">
          <a:xfrm>
            <a:off x="2539844" y="278621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365765"/>
              </p:ext>
            </p:extLst>
          </p:nvPr>
        </p:nvGraphicFramePr>
        <p:xfrm>
          <a:off x="2539844" y="2786211"/>
          <a:ext cx="16764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r:id="rId25" imgW="1676400" imgH="673100" progId="Equation.DSMT4">
                  <p:embed/>
                </p:oleObj>
              </mc:Choice>
              <mc:Fallback>
                <p:oleObj r:id="rId25" imgW="1676400" imgH="673100" progId="Equation.DSMT4">
                  <p:embed/>
                  <p:pic>
                    <p:nvPicPr>
                      <p:cNvPr id="0" name="Object 9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844" y="2786211"/>
                        <a:ext cx="1676400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003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9477" y="2227942"/>
            <a:ext cx="11042073" cy="1356360"/>
          </a:xfrm>
        </p:spPr>
        <p:txBody>
          <a:bodyPr>
            <a:normAutofit/>
          </a:bodyPr>
          <a:lstStyle/>
          <a:p>
            <a:pPr algn="ctr"/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І РЕАЛІЗАЦІЯ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570514" y="3736702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93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928846" y="3122409"/>
            <a:ext cx="10033000" cy="1359239"/>
          </a:xfrm>
        </p:spPr>
        <p:txBody>
          <a:bodyPr>
            <a:noAutofit/>
          </a:bodyPr>
          <a:lstStyle/>
          <a:p>
            <a:pPr marL="45720" indent="0" algn="just">
              <a:lnSpc>
                <a:spcPct val="100000"/>
              </a:lnSpc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Перехід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(3) до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відбудеться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шляхом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поступової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заміни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деяких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збурених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рядків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" indent="0" algn="just">
              <a:lnSpc>
                <a:spcPct val="100000"/>
              </a:lnSpc>
              <a:buNone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нормалей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гіперплощин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визначають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рядки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будуть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замінені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відповідними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збуреними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нормальними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векторами.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884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0" name="Объект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67790"/>
              </p:ext>
            </p:extLst>
          </p:nvPr>
        </p:nvGraphicFramePr>
        <p:xfrm>
          <a:off x="2347838" y="1928949"/>
          <a:ext cx="1464058" cy="440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0" r:id="rId3" imgW="787400" imgH="241300" progId="Equation.DSMT4">
                  <p:embed/>
                </p:oleObj>
              </mc:Choice>
              <mc:Fallback>
                <p:oleObj r:id="rId3" imgW="787400" imgH="241300" progId="Equation.DSMT4">
                  <p:embed/>
                  <p:pic>
                    <p:nvPicPr>
                      <p:cNvPr id="7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838" y="1928949"/>
                        <a:ext cx="1464058" cy="4409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Объект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543726"/>
              </p:ext>
            </p:extLst>
          </p:nvPr>
        </p:nvGraphicFramePr>
        <p:xfrm>
          <a:off x="5346650" y="1858289"/>
          <a:ext cx="1381431" cy="51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1" r:id="rId5" imgW="520474" imgH="190417" progId="Equation.DSMT4">
                  <p:embed/>
                </p:oleObj>
              </mc:Choice>
              <mc:Fallback>
                <p:oleObj r:id="rId5" imgW="520474" imgH="190417" progId="Equation.DSMT4">
                  <p:embed/>
                  <p:pic>
                    <p:nvPicPr>
                      <p:cNvPr id="13" name="Объект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650" y="1858289"/>
                        <a:ext cx="1381431" cy="5116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Объект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953350"/>
              </p:ext>
            </p:extLst>
          </p:nvPr>
        </p:nvGraphicFramePr>
        <p:xfrm>
          <a:off x="8233548" y="1760692"/>
          <a:ext cx="1481416" cy="581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" name="Уравнение" r:id="rId7" imgW="533169" imgH="203112" progId="Equation.3">
                  <p:embed/>
                </p:oleObj>
              </mc:Choice>
              <mc:Fallback>
                <p:oleObj name="Уравнение" r:id="rId7" imgW="533169" imgH="203112" progId="Equation.3">
                  <p:embed/>
                  <p:pic>
                    <p:nvPicPr>
                      <p:cNvPr id="29" name="Объект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3548" y="1760692"/>
                        <a:ext cx="1481416" cy="5819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999474" y="189790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899742" y="189507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714963" y="1822944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3767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30"/>
                <a:ext cx="10304254" cy="3520315"/>
              </a:xfrm>
            </p:spPr>
            <p:txBody>
              <a:bodyPr>
                <a:noAutofit/>
              </a:bodyPr>
              <a:lstStyle/>
              <a:p>
                <a:pPr marL="502920" indent="-457200" algn="just">
                  <a:lnSpc>
                    <a:spcPct val="100000"/>
                  </a:lnSpc>
                  <a:buAutoNum type="arabicPeriod"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Задати матрицю: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(0)</m:t>
                            </m:r>
                          </m:sup>
                        </m:sSup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де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(0)</m:t>
                            </m:r>
                          </m:sup>
                        </m:sSup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𝑚𝑚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uk-UA" dirty="0"/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02920" indent="-457200" algn="just">
                  <a:lnSpc>
                    <a:spcPct val="100000"/>
                  </a:lnSpc>
                  <a:buFont typeface="Corbel" pitchFamily="34" charset="0"/>
                  <a:buAutoNum type="arabicPeriod"/>
                </a:pP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Виконати ітерації при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k=(1,m) 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𝑘𝑘</m:t>
                            </m:r>
                          </m:sub>
                        </m:sSub>
                        <m:r>
                          <a:rPr lang="uk-UA" i="1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  <m:r>
                      <a:rPr lang="uk-UA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uk-UA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uk-U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502920" indent="-457200" algn="just">
                  <a:lnSpc>
                    <a:spcPct val="100000"/>
                  </a:lnSpc>
                  <a:buAutoNum type="arabicPeriod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30"/>
                <a:ext cx="10304254" cy="352031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884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30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30"/>
                <a:ext cx="10304254" cy="4778408"/>
              </a:xfrm>
            </p:spPr>
            <p:txBody>
              <a:bodyPr>
                <a:noAutofit/>
              </a:bodyPr>
              <a:lstStyle/>
              <a:p>
                <a:pPr marL="45720" indent="0" algn="just">
                  <a:lnSpc>
                    <a:spcPct val="100000"/>
                  </a:lnSpc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З</a:t>
                </a:r>
                <a14:m>
                  <m:oMath xmlns:m="http://schemas.openxmlformats.org/officeDocument/2006/math">
                    <m:r>
                      <a:rPr lang="uk-UA" b="0" i="0" smtClean="0">
                        <a:latin typeface="Cambria Math" panose="02040503050406030204" pitchFamily="18" charset="0"/>
                      </a:rPr>
                      <m:t>найдемо матрицю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де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𝑚𝑚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𝑚𝑚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Елементарні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перетворення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k-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тої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ітерації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k-UA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uk-UA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uk-UA" dirty="0" smtClean="0"/>
                  <a:t>:</a:t>
                </a: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 </a:t>
                </a:r>
                <a:r>
                  <a:rPr lang="uk-UA" dirty="0" smtClean="0"/>
                  <a:t>якщо </a:t>
                </a:r>
                <a14:m>
                  <m:oMath xmlns:m="http://schemas.openxmlformats.org/officeDocument/2006/math">
                    <m:r>
                      <a:rPr lang="uk-UA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𝑘𝑘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uk-UA" dirty="0" smtClean="0"/>
                  <a:t>           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</a:t>
                </a:r>
                <a:r>
                  <a:rPr lang="uk-UA" dirty="0" smtClean="0"/>
                  <a:t>) </a:t>
                </a:r>
                <a:r>
                  <a:rPr lang="uk-UA" dirty="0"/>
                  <a:t>якщо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𝑘𝑘</m:t>
                            </m:r>
                          </m:sub>
                        </m:sSub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uk-UA" i="1">
                            <a:latin typeface="Cambria Math" panose="02040503050406030204" pitchFamily="18" charset="0"/>
                          </a:rPr>
                          <m:t>𝑘𝑟</m:t>
                        </m:r>
                      </m:sub>
                    </m:sSub>
                  </m:oMath>
                </a14:m>
                <a:r>
                  <a:rPr lang="uk-UA" dirty="0"/>
                  <a:t> </a:t>
                </a:r>
                <a:endParaRPr lang="uk-UA" dirty="0" smtClean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uk-UA" dirty="0" smtClean="0"/>
                  <a:t>якщо </a:t>
                </a:r>
                <a14:m>
                  <m:oMath xmlns:m="http://schemas.openxmlformats.org/officeDocument/2006/math">
                    <m:r>
                      <a:rPr lang="uk-UA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uk-UA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𝑘𝑘</m:t>
                            </m:r>
                          </m:sub>
                        </m:sSub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uk-UA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;</a:t>
                </a:r>
                <a:endParaRPr lang="en-US" dirty="0"/>
              </a:p>
              <a:p>
                <a:pPr marL="502920" indent="-457200" algn="just">
                  <a:lnSpc>
                    <a:spcPct val="100000"/>
                  </a:lnSpc>
                  <a:buAutoNum type="alphaLcParenR"/>
                </a:pPr>
                <a:endParaRPr lang="en-US" dirty="0"/>
              </a:p>
              <a:p>
                <a:pPr marL="502920" indent="-457200" algn="just">
                  <a:lnSpc>
                    <a:spcPct val="100000"/>
                  </a:lnSpc>
                  <a:buAutoNum type="alphaLcParenR"/>
                </a:pPr>
                <a:endParaRPr lang="en-US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30"/>
                <a:ext cx="10304254" cy="4778408"/>
              </a:xfrm>
              <a:blipFill>
                <a:blip r:embed="rId2"/>
                <a:stretch>
                  <a:fillRect l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866387" y="283840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896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30"/>
                <a:ext cx="10304254" cy="4778408"/>
              </a:xfrm>
            </p:spPr>
            <p:txBody>
              <a:bodyPr>
                <a:noAutofit/>
              </a:bodyPr>
              <a:lstStyle/>
              <a:p>
                <a:pPr marL="45720" indent="0" algn="just">
                  <a:lnSpc>
                    <a:spcPct val="100000"/>
                  </a:lnSpc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результаті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виконання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алгоритму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утвориться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кінцева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(2),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що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буде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складатися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із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оберненої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матриці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даної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(3) та вектор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розв’язків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(4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−1(</m:t>
                            </m:r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acc>
                    <m:r>
                      <a:rPr lang="uk-UA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uk-UA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uk-UA" i="1">
                                      <a:latin typeface="Cambria Math" panose="02040503050406030204" pitchFamily="18" charset="0"/>
                                    </a:rPr>
                                    <m:t>𝑚𝑚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(3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02920" indent="-457200" algn="just">
                  <a:lnSpc>
                    <a:spcPct val="100000"/>
                  </a:lnSpc>
                  <a:buAutoNum type="alphaLcParenR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uk-UA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uk-UA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sub>
                            </m:sSub>
                          </m:e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uk-UA" dirty="0"/>
                  <a:t>                                         </a:t>
                </a: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(4)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30"/>
                <a:ext cx="10304254" cy="4778408"/>
              </a:xfrm>
              <a:blipFill>
                <a:blip r:embed="rId2"/>
                <a:stretch>
                  <a:fillRect l="-296" t="-893" r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896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29"/>
                <a:ext cx="10304254" cy="4635533"/>
              </a:xfrm>
            </p:spPr>
            <p:txBody>
              <a:bodyPr>
                <a:noAutofit/>
              </a:bodyPr>
              <a:lstStyle/>
              <a:p>
                <a:pPr marL="45720" indent="0">
                  <a:buNone/>
                </a:pPr>
                <a:r>
                  <a:rPr lang="ru-RU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Постановка </a:t>
                </a:r>
                <a:r>
                  <a:rPr lang="ru-RU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задачі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знайти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розв’язок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обернену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матрицю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системи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застосувавши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метод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базисних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матриць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" indent="0">
                  <a:buNone/>
                </a:pPr>
                <a:endParaRPr lang="uk-UA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r>
                  <a:rPr lang="uk-UA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Нехай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задана така система рівнянь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/>
                        </m:ctrlPr>
                      </m:dPr>
                      <m:e>
                        <m:eqArr>
                          <m:eqArrPr>
                            <m:ctrlPr>
                              <a:rPr lang="en-US" sz="2400" i="1"/>
                            </m:ctrlPr>
                          </m:eqArrPr>
                          <m:e>
                            <m:r>
                              <a:rPr lang="uk-UA" sz="2400" i="1"/>
                              <m:t>0.2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1</m:t>
                                </m:r>
                              </m:sub>
                            </m:sSub>
                            <m:r>
                              <a:rPr lang="uk-UA" sz="2400" i="1"/>
                              <m:t>+0.1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2</m:t>
                                </m:r>
                              </m:sub>
                            </m:sSub>
                            <m:r>
                              <a:rPr lang="uk-UA" sz="2400" i="1"/>
                              <m:t>+0.1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3</m:t>
                                </m:r>
                              </m:sub>
                            </m:sSub>
                            <m:r>
                              <a:rPr lang="uk-UA" sz="2400" i="1"/>
                              <m:t>+0.2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4</m:t>
                                </m:r>
                              </m:sub>
                            </m:sSub>
                            <m:r>
                              <a:rPr lang="uk-UA" sz="2400" i="1"/>
                              <m:t>=23.068</m:t>
                            </m:r>
                          </m:e>
                          <m:e>
                            <m:r>
                              <a:rPr lang="uk-UA" sz="2400" i="1"/>
                              <m:t>0.3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1</m:t>
                                </m:r>
                              </m:sub>
                            </m:sSub>
                            <m:r>
                              <a:rPr lang="uk-UA" sz="2400" i="1"/>
                              <m:t>+0.2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2</m:t>
                                </m:r>
                              </m:sub>
                            </m:sSub>
                            <m:r>
                              <a:rPr lang="uk-UA" sz="2400" i="1"/>
                              <m:t>+0.1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3</m:t>
                                </m:r>
                              </m:sub>
                            </m:sSub>
                            <m:r>
                              <a:rPr lang="uk-UA" sz="2400" i="1"/>
                              <m:t>+0.2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4</m:t>
                                </m:r>
                              </m:sub>
                            </m:sSub>
                            <m:r>
                              <a:rPr lang="uk-UA" sz="2400" i="1"/>
                              <m:t>=32.9294</m:t>
                            </m:r>
                          </m:e>
                          <m:e>
                            <m:r>
                              <a:rPr lang="uk-UA" sz="2400" i="1"/>
                              <m:t>0.1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1</m:t>
                                </m:r>
                              </m:sub>
                            </m:sSub>
                            <m:r>
                              <a:rPr lang="uk-UA" sz="2400" i="1"/>
                              <m:t>+0.3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2</m:t>
                                </m:r>
                              </m:sub>
                            </m:sSub>
                            <m:r>
                              <a:rPr lang="uk-UA" sz="2400" i="1"/>
                              <m:t>+0.2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3</m:t>
                                </m:r>
                              </m:sub>
                            </m:sSub>
                            <m:r>
                              <a:rPr lang="uk-UA" sz="2400" i="1"/>
                              <m:t>+0.3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4</m:t>
                                </m:r>
                              </m:sub>
                            </m:sSub>
                            <m:r>
                              <a:rPr lang="uk-UA" sz="2400" i="1"/>
                              <m:t>=37.6681</m:t>
                            </m:r>
                          </m:e>
                          <m:e>
                            <m:r>
                              <a:rPr lang="uk-UA" sz="2400" i="1"/>
                              <m:t>0.2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1</m:t>
                                </m:r>
                              </m:sub>
                            </m:sSub>
                            <m:r>
                              <a:rPr lang="uk-UA" sz="2400" i="1"/>
                              <m:t>+0.3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2</m:t>
                                </m:r>
                              </m:sub>
                            </m:sSub>
                            <m:r>
                              <a:rPr lang="uk-UA" sz="2400" i="1"/>
                              <m:t>+0.3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3</m:t>
                                </m:r>
                              </m:sub>
                            </m:sSub>
                            <m:r>
                              <a:rPr lang="uk-UA" sz="2400" i="1"/>
                              <m:t>+0.1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sub>
                                <m:r>
                                  <a:rPr lang="uk-UA" sz="2400" i="1"/>
                                  <m:t>4</m:t>
                                </m:r>
                              </m:sub>
                            </m:sSub>
                            <m:r>
                              <a:rPr lang="uk-UA" sz="2400" i="1"/>
                              <m:t>=38.6267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k-UA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(5)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endParaRPr lang="en-US" dirty="0"/>
              </a:p>
              <a:p>
                <a:pPr marL="4572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29"/>
                <a:ext cx="10304254" cy="4635533"/>
              </a:xfrm>
              <a:blipFill>
                <a:blip r:embed="rId2"/>
                <a:stretch>
                  <a:fillRect l="-296" t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469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29"/>
                <a:ext cx="10304254" cy="4635533"/>
              </a:xfrm>
            </p:spPr>
            <p:txBody>
              <a:bodyPr>
                <a:noAutofit/>
              </a:bodyPr>
              <a:lstStyle/>
              <a:p>
                <a:pPr marL="502920" indent="-457200">
                  <a:buAutoNum type="arabicPeriod"/>
                </a:pP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Матриця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даної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системи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набуває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такого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вигляду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" indent="0">
                  <a:buNone/>
                </a:pPr>
                <a:endParaRPr lang="uk-UA" i="1" dirty="0" smtClean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/>
                        <m:t>𝐴</m:t>
                      </m:r>
                      <m:r>
                        <a:rPr lang="uk-UA" i="1"/>
                        <m:t> = 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/>
                              </m:ctrlPr>
                            </m:mPr>
                            <m:mr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−23.068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−32.9294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−37.6681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−38.6267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  <m:e>
                                <m:r>
                                  <a:rPr lang="uk-UA" i="1"/>
                                  <m:t> −</m:t>
                                </m:r>
                              </m:e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1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1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1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  <m:e>
                                <m:r>
                                  <a:rPr lang="uk-UA" i="1"/>
                                  <m:t>1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dirty="0" smtClean="0"/>
              </a:p>
              <a:p>
                <a:pPr marL="45720" indent="0">
                  <a:buNone/>
                </a:pPr>
                <a:endParaRPr lang="en-US" dirty="0"/>
              </a:p>
              <a:p>
                <a:pPr marL="45720" indent="0">
                  <a:buNone/>
                </a:pP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Виконуємо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перевірку, при якій отримуємо,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що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𝑘𝑘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dirty="0"/>
              </a:p>
              <a:p>
                <a:pPr marL="45720" indent="0">
                  <a:buNone/>
                </a:pPr>
                <a:endParaRPr lang="en-US" dirty="0"/>
              </a:p>
              <a:p>
                <a:pPr marL="4572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29"/>
                <a:ext cx="10304254" cy="4635533"/>
              </a:xfrm>
              <a:blipFill>
                <a:blip r:embed="rId2"/>
                <a:stretch>
                  <a:fillRect l="-296" t="-1579" b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763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Виконуємо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першу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ітерацію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при  k=1.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uk-U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uk-U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(0)</m:t>
                            </m:r>
                          </m:sup>
                        </m:sSup>
                      </m:e>
                    </m:acc>
                    <m:r>
                      <a:rPr lang="uk-U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−23.068</m:t>
                              </m:r>
                            </m:e>
                          </m:mr>
                          <m:mr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−32.9294</m:t>
                              </m:r>
                            </m:e>
                          </m:mr>
                          <m:mr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−37.6681</m:t>
                              </m:r>
                            </m:e>
                          </m:mr>
                          <m:mr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−38.6267</m:t>
                              </m:r>
                            </m:e>
                          </m:mr>
                          <m:mr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−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uk-UA" sz="1800" i="1">
                                  <a:effectLst/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→ </a:t>
                </a:r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8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  <a:blipFill>
                <a:blip r:embed="rId2"/>
                <a:stretch>
                  <a:fillRect l="-296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92697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6504847" y="2195824"/>
                <a:ext cx="4872488" cy="2751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−23.068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1.5</m:t>
                              </m:r>
                            </m:e>
                            <m:e>
                              <m:r>
                                <a:rPr lang="ru-RU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−32.9294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ru-RU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−37.6681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−38.6267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−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ru-RU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highlight>
                                    <a:srgbClr val="00FFFF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</a:t>
                </a: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→</a:t>
                </a:r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847" y="2195824"/>
                <a:ext cx="4872488" cy="2751202"/>
              </a:xfrm>
              <a:prstGeom prst="rect">
                <a:avLst/>
              </a:prstGeom>
              <a:blipFill>
                <a:blip r:embed="rId3"/>
                <a:stretch>
                  <a:fillRect r="-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9813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Виконуємо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першу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ітерацію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при  k=1.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−23.068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0.05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−32.9294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−37.6681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−38.6267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−0.5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−23.068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0.05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−0.05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−32.9294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−37.6681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−38.6267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−0.5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−0.5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→</a:t>
                </a:r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8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lang="en-US" sz="14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  <a:blipFill>
                <a:blip r:embed="rId2"/>
                <a:stretch>
                  <a:fillRect l="-296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92697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804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Виконуємо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першу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ітерацію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при  k=1.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−23.068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0.05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−0.05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−0.1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−32.9294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0.15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−37.6681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−0.1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−38.6267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−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−0.5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−0.5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lang="ru-RU" sz="18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→ </a:t>
                </a:r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4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sz="18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endParaRPr lang="en-US" sz="14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  <a:blipFill>
                <a:blip r:embed="rId2"/>
                <a:stretch>
                  <a:fillRect l="-296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92697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Прямоугольник 10"/>
              <p:cNvSpPr/>
              <p:nvPr/>
            </p:nvSpPr>
            <p:spPr>
              <a:xfrm>
                <a:off x="6077708" y="2388878"/>
                <a:ext cx="5513112" cy="25772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−0.05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−0.1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1.6726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−26.1341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−0.1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−15.5587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−0.5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−0.5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115.34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08" y="2388878"/>
                <a:ext cx="5513112" cy="2577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22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982871" y="1693829"/>
            <a:ext cx="10304254" cy="4635533"/>
          </a:xfrm>
        </p:spPr>
        <p:txBody>
          <a:bodyPr>
            <a:noAutofit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Виконуємо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другу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ітерацію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k=2.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3284860" y="2713929"/>
                <a:ext cx="5153504" cy="25772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−34.4971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−22.2491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132.066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−30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−33.452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860" y="2713929"/>
                <a:ext cx="5153504" cy="25772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3401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982871" y="1693829"/>
            <a:ext cx="10304254" cy="4635533"/>
          </a:xfrm>
        </p:spPr>
        <p:txBody>
          <a:bodyPr>
            <a:noAutofit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Виконуємо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третю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ітерацію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k=3.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154842" y="2642291"/>
                <a:ext cx="5846537" cy="25772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p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−0.4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12.248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−0.25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145.8232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7.5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52.7908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17.5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−1.75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86.2428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842" y="2642291"/>
                <a:ext cx="5846537" cy="25772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012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982871" y="1693829"/>
            <a:ext cx="10304254" cy="4635533"/>
          </a:xfrm>
        </p:spPr>
        <p:txBody>
          <a:bodyPr>
            <a:noAutofit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Виконуємо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четверту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ітерацію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k=4.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8363" y="4136591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2733149" y="2522591"/>
                <a:ext cx="6392962" cy="25772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/>
                          </m:ctrlPr>
                        </m:accPr>
                        <m:e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r>
                                <a:rPr lang="en-US" i="1"/>
                                <m:t>𝐴</m:t>
                              </m:r>
                            </m:e>
                            <m:sup>
                              <m:r>
                                <a:rPr lang="ru-RU" i="1"/>
                                <m:t>(4)</m:t>
                              </m:r>
                            </m:sup>
                          </m:sSup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1.25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3.125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−3.125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0.625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38.1682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−11.25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6.875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3.125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−0.625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60.4458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8.75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−8.125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−1.875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4.375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32.6577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−2.5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30.62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149" y="2522591"/>
                <a:ext cx="6392962" cy="25772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93593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Отримуємо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обернену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матрицю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/>
                          </m:ctrlPr>
                        </m:accPr>
                        <m:e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r>
                                <a:rPr lang="en-US" i="1"/>
                                <m:t>𝐴</m:t>
                              </m:r>
                            </m:e>
                            <m:sup>
                              <m:r>
                                <a:rPr lang="ru-RU" i="1"/>
                                <m:t>−1</m:t>
                              </m:r>
                            </m:sup>
                          </m:sSup>
                        </m:e>
                      </m:acc>
                      <m:r>
                        <a:rPr lang="ru-RU" i="1"/>
                        <m:t>=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/>
                              </m:ctrlPr>
                            </m:mPr>
                            <m:mr>
                              <m:e>
                                <m:r>
                                  <a:rPr lang="ru-RU" i="1"/>
                                  <m:t>1.25</m:t>
                                </m:r>
                              </m:e>
                              <m:e>
                                <m:r>
                                  <a:rPr lang="ru-RU" i="1"/>
                                  <m:t>3.125</m:t>
                                </m:r>
                              </m:e>
                              <m:e>
                                <m:r>
                                  <a:rPr lang="ru-RU" i="1"/>
                                  <m:t>−3.125</m:t>
                                </m:r>
                              </m:e>
                              <m:e>
                                <m:r>
                                  <a:rPr lang="ru-RU" i="1"/>
                                  <m:t>0.625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/>
                                  <m:t>−11.25</m:t>
                                </m:r>
                              </m:e>
                              <m:e>
                                <m:r>
                                  <a:rPr lang="ru-RU" i="1"/>
                                  <m:t>6.875</m:t>
                                </m:r>
                              </m:e>
                              <m:e>
                                <m:r>
                                  <a:rPr lang="ru-RU" i="1"/>
                                  <m:t>3.125</m:t>
                                </m:r>
                              </m:e>
                              <m:e>
                                <m:r>
                                  <a:rPr lang="ru-RU" i="1"/>
                                  <m:t>−0.625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/>
                                  <m:t>8.75</m:t>
                                </m:r>
                              </m:e>
                              <m:e>
                                <m:r>
                                  <a:rPr lang="ru-RU" i="1"/>
                                  <m:t>−8.125</m:t>
                                </m:r>
                              </m:e>
                              <m:e>
                                <m:r>
                                  <a:rPr lang="ru-RU" i="1"/>
                                  <m:t>−1.875</m:t>
                                </m:r>
                              </m:e>
                              <m:e>
                                <m:r>
                                  <a:rPr lang="ru-RU" i="1"/>
                                  <m:t>4.375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/>
                                  <m:t>5</m:t>
                                </m:r>
                              </m:e>
                              <m:e>
                                <m:r>
                                  <a:rPr lang="ru-RU" i="1"/>
                                  <m:t>−2.5</m:t>
                                </m:r>
                              </m:e>
                              <m:e>
                                <m:r>
                                  <a:rPr lang="ru-RU" i="1"/>
                                  <m:t>2.5</m:t>
                                </m:r>
                              </m:e>
                              <m:e>
                                <m:r>
                                  <a:rPr lang="ru-RU" i="1"/>
                                  <m:t>−2.5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sz="16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endParaRPr lang="en-US" sz="16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uk-UA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 вектор </a:t>
                </a:r>
                <a:r>
                  <a:rPr lang="uk-UA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розв’язків</a:t>
                </a:r>
                <a:r>
                  <a:rPr lang="uk-UA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uk-UA" i="1" dirty="0" smtClean="0"/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uk-UA" i="1"/>
                            <m:t>𝑢</m:t>
                          </m:r>
                        </m:e>
                        <m:sub>
                          <m:r>
                            <a:rPr lang="uk-UA" i="1"/>
                            <m:t>0</m:t>
                          </m:r>
                        </m:sub>
                      </m:sSub>
                      <m:r>
                        <a:rPr lang="uk-UA" i="1"/>
                        <m:t>=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eqArr>
                            <m:eqArrPr>
                              <m:ctrlPr>
                                <a:rPr lang="en-US" i="1"/>
                              </m:ctrlPr>
                            </m:eqArrPr>
                            <m:e>
                              <m:r>
                                <a:rPr lang="uk-UA" i="1"/>
                                <m:t>38.1682</m:t>
                              </m:r>
                            </m:e>
                            <m:e>
                              <m:r>
                                <a:rPr lang="uk-UA" i="1"/>
                                <m:t>60.4458</m:t>
                              </m:r>
                            </m:e>
                            <m:e>
                              <m:r>
                                <a:rPr lang="uk-UA" i="1"/>
                                <m:t>32.6577</m:t>
                              </m:r>
                            </m:e>
                            <m:e>
                              <m:r>
                                <a:rPr lang="uk-UA" i="1"/>
                                <m:t>30.62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dirty="0"/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  <a:blipFill>
                <a:blip r:embed="rId2"/>
                <a:stretch>
                  <a:fillRect l="-296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616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С++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" name="Рисунок 38"/>
          <p:cNvPicPr/>
          <p:nvPr/>
        </p:nvPicPr>
        <p:blipFill>
          <a:blip r:embed="rId2"/>
          <a:stretch>
            <a:fillRect/>
          </a:stretch>
        </p:blipFill>
        <p:spPr>
          <a:xfrm>
            <a:off x="1216689" y="2140140"/>
            <a:ext cx="4106022" cy="30742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Рисунок 39"/>
          <p:cNvPicPr/>
          <p:nvPr/>
        </p:nvPicPr>
        <p:blipFill>
          <a:blip r:embed="rId3"/>
          <a:stretch>
            <a:fillRect/>
          </a:stretch>
        </p:blipFill>
        <p:spPr>
          <a:xfrm>
            <a:off x="6556505" y="2140139"/>
            <a:ext cx="4129961" cy="30742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6067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С++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894744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" name="Рисунок 38"/>
          <p:cNvPicPr/>
          <p:nvPr/>
        </p:nvPicPr>
        <p:blipFill>
          <a:blip r:embed="rId2"/>
          <a:stretch>
            <a:fillRect/>
          </a:stretch>
        </p:blipFill>
        <p:spPr>
          <a:xfrm>
            <a:off x="2433067" y="1725800"/>
            <a:ext cx="7325865" cy="25214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Рисунок 39"/>
          <p:cNvPicPr/>
          <p:nvPr/>
        </p:nvPicPr>
        <p:blipFill>
          <a:blip r:embed="rId3"/>
          <a:stretch>
            <a:fillRect/>
          </a:stretch>
        </p:blipFill>
        <p:spPr>
          <a:xfrm>
            <a:off x="2433067" y="4250503"/>
            <a:ext cx="7325865" cy="21690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48113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С++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894744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" name="Рисунок 39"/>
          <p:cNvPicPr/>
          <p:nvPr/>
        </p:nvPicPr>
        <p:blipFill>
          <a:blip r:embed="rId2"/>
          <a:stretch>
            <a:fillRect/>
          </a:stretch>
        </p:blipFill>
        <p:spPr>
          <a:xfrm>
            <a:off x="2428875" y="1848680"/>
            <a:ext cx="7086599" cy="23397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Рисунок 40"/>
          <p:cNvPicPr/>
          <p:nvPr/>
        </p:nvPicPr>
        <p:blipFill>
          <a:blip r:embed="rId3"/>
          <a:stretch>
            <a:fillRect/>
          </a:stretch>
        </p:blipFill>
        <p:spPr>
          <a:xfrm>
            <a:off x="2428875" y="4205359"/>
            <a:ext cx="7086599" cy="21842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76261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С++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894744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" name="Рисунок 38"/>
          <p:cNvPicPr/>
          <p:nvPr/>
        </p:nvPicPr>
        <p:blipFill>
          <a:blip r:embed="rId2"/>
          <a:stretch>
            <a:fillRect/>
          </a:stretch>
        </p:blipFill>
        <p:spPr>
          <a:xfrm>
            <a:off x="1570264" y="2269500"/>
            <a:ext cx="9129713" cy="28404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Прямоугольник 2"/>
          <p:cNvSpPr/>
          <p:nvPr/>
        </p:nvSpPr>
        <p:spPr>
          <a:xfrm>
            <a:off x="1570264" y="4049835"/>
            <a:ext cx="3558949" cy="1060079"/>
          </a:xfrm>
          <a:prstGeom prst="rect">
            <a:avLst/>
          </a:prstGeom>
          <a:noFill/>
          <a:ln w="38100">
            <a:solidFill>
              <a:srgbClr val="00C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Прямоугольник 41"/>
          <p:cNvSpPr/>
          <p:nvPr/>
        </p:nvSpPr>
        <p:spPr>
          <a:xfrm>
            <a:off x="5110385" y="4042701"/>
            <a:ext cx="1161978" cy="1060079"/>
          </a:xfrm>
          <a:prstGeom prst="rect">
            <a:avLst/>
          </a:prstGeom>
          <a:noFill/>
          <a:ln w="38100">
            <a:solidFill>
              <a:srgbClr val="00C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98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 Excel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894744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8" name="Рисунок 3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432" y="1718355"/>
            <a:ext cx="6033136" cy="45421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97634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 fontScale="90000"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до дослідження системи, у якій змінюються коефіцієнти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894744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Нехай задана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така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система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рівнянь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𝐴𝑢</m:t>
                            </m:r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,  де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uk-UA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</m:eqArr>
                      </m:e>
                    </m:d>
                  </m:oMath>
                </a14:m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(6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Постановка </a:t>
                </a:r>
                <a:r>
                  <a:rPr lang="ru-RU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задачі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змінити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будь-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який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рядок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системи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(6),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знайти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новий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розв’язок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системи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та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дослідити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як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зміни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у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системі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вплинули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початковий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її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розв’язок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(6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Знайти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обернену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матрицю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системи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(6) та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розв’язок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застосувавши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метод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базисних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матриць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Утворити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нову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матрицю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uk-U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r>
                      <a:rPr lang="uk-UA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 (7)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02920" indent="-457200">
                  <a:lnSpc>
                    <a:spcPct val="100000"/>
                  </a:lnSpc>
                  <a:buAutoNum type="arabicPeriod"/>
                </a:pPr>
                <a:endParaRPr lang="ru-RU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endParaRPr lang="en-US" sz="16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4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2871" y="1693829"/>
                <a:ext cx="10304254" cy="4892709"/>
              </a:xfrm>
              <a:blipFill>
                <a:blip r:embed="rId2"/>
                <a:stretch>
                  <a:fillRect l="-296" t="-873" r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3450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 fontScale="90000"/>
          </a:bodyPr>
          <a:lstStyle/>
          <a:p>
            <a:pPr algn="ctr"/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до дослідження системи, 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 якій змінюються коефіцієнти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894744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86566" y="50058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80127" y="1680982"/>
                <a:ext cx="10304254" cy="4892709"/>
              </a:xfrm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3.1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Обрати 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рядок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uk-UA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над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яким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виконаємо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перетворення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Замінити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даний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рядок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новими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коєфіцієнтами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3.2</a:t>
                </a:r>
                <a:r>
                  <a:rPr lang="uk-UA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Виконати наступну заміну</a:t>
                </a:r>
                <a:r>
                  <a:rPr lang="uk-UA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Знайти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новий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рядок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</m:oMath>
                </a14:m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 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формулою: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uk-UA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uk-UA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uk-UA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uk-UA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(8)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Змінити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вільний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член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uk-UA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/>
                        </m:ctrlPr>
                      </m:acc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ru-RU" i="1"/>
                              <m:t>∆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acc>
                    <m:r>
                      <a:rPr lang="ru-RU" i="1"/>
                      <m:t>=</m:t>
                    </m:r>
                    <m:acc>
                      <m:accPr>
                        <m:chr m:val="̅"/>
                        <m:ctrlPr>
                          <a:rPr lang="en-US" i="1"/>
                        </m:ctrlPr>
                      </m:acc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uk-UA" i="1"/>
                              <m:t>𝑎</m:t>
                            </m:r>
                          </m:e>
                          <m:sub>
                            <m:r>
                              <a:rPr lang="uk-UA" i="1"/>
                              <m:t>𝑘</m:t>
                            </m:r>
                          </m:sub>
                        </m:sSub>
                      </m:e>
                    </m:acc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uk-UA" i="1"/>
                          <m:t>∗</m:t>
                        </m:r>
                        <m:r>
                          <a:rPr lang="uk-UA" i="1"/>
                          <m:t>𝑢</m:t>
                        </m:r>
                      </m:e>
                      <m:sub>
                        <m:r>
                          <a:rPr lang="uk-UA" i="1"/>
                          <m:t>0</m:t>
                        </m:r>
                      </m:sub>
                    </m:sSub>
                    <m:r>
                      <a:rPr lang="uk-UA" i="1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uk-UA" i="1"/>
                          <m:t>𝑐</m:t>
                        </m:r>
                      </m:e>
                      <m:sub>
                        <m:r>
                          <a:rPr lang="uk-UA" i="1"/>
                          <m:t>𝑘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(9)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Отримаємо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нову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матрицю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uk-UA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uk-UA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r>
                      <a:rPr lang="uk-UA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uk-UA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uk-UA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uk-UA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uk-UA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uk-UA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uk-UA" sz="20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e>
                              <m:r>
                                <a:rPr lang="uk-UA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uk-UA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(10)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0127" y="1680982"/>
                <a:ext cx="10304254" cy="4892709"/>
              </a:xfrm>
              <a:blipFill>
                <a:blip r:embed="rId2"/>
                <a:stretch>
                  <a:fillRect l="-296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928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 fontScale="90000"/>
          </a:bodyPr>
          <a:lstStyle/>
          <a:p>
            <a:pPr algn="ctr"/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до дослідження системи, </a:t>
            </a:r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 якій змінюються коефіцієнти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894744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86566" y="500580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43873" y="1876471"/>
                <a:ext cx="10304254" cy="4673407"/>
              </a:xfrm>
            </p:spPr>
            <p:txBody>
              <a:bodyPr>
                <a:noAutofit/>
              </a:bodyPr>
              <a:lstStyle/>
              <a:p>
                <a:pPr marL="45720" indent="0" algn="just">
                  <a:lnSpc>
                    <a:spcPct val="100000"/>
                  </a:lnSpc>
                  <a:buNone/>
                </a:pP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Проведемо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одну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ітерацію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методу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базисних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матриць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для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індекса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k.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Отримаємо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новий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розв’язок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системи</a:t>
                </a:r>
                <a:r>
                  <a:rPr lang="ru-RU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uk-U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k-UA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uk-UA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uk-UA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uk-UA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uk-UA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01</m:t>
                                </m:r>
                              </m:sub>
                              <m:sup>
                                <m:r>
                                  <a:rPr lang="uk-UA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uk-UA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02</m:t>
                                </m:r>
                              </m:sub>
                              <m:sup>
                                <m:r>
                                  <a:rPr lang="uk-UA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e>
                            <m:r>
                              <a:rPr lang="uk-UA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⋮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uk-UA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uk-UA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uk-UA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eqArr>
                      </m:e>
                    </m:d>
                  </m:oMath>
                </a14:m>
                <a:r>
                  <a:rPr lang="uk-UA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(11</a:t>
                </a:r>
                <a:r>
                  <a:rPr lang="ru-RU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3873" y="1876471"/>
                <a:ext cx="10304254" cy="4673407"/>
              </a:xfrm>
              <a:blipFill>
                <a:blip r:embed="rId2"/>
                <a:stretch>
                  <a:fillRect l="-296" t="-914" r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0189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1043304" y="1789386"/>
                <a:ext cx="10304254" cy="4635534"/>
              </a:xfrm>
            </p:spPr>
            <p:txBody>
              <a:bodyPr>
                <a:noAutofit/>
              </a:bodyPr>
              <a:lstStyle/>
              <a:p>
                <a:pPr marL="45720" indent="0"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Нехай </a:t>
                </a: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задана початкова 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система: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/>
                        </m:ctrlPr>
                      </m:dPr>
                      <m:e>
                        <m:eqArr>
                          <m:eqArrPr>
                            <m:ctrlPr>
                              <a:rPr lang="en-US" i="1"/>
                            </m:ctrlPr>
                          </m:eqArrPr>
                          <m:e>
                            <m:r>
                              <a:rPr lang="uk-UA" i="1"/>
                              <m:t>0.2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1</m:t>
                                </m:r>
                              </m:sub>
                            </m:sSub>
                            <m:r>
                              <a:rPr lang="uk-UA" i="1"/>
                              <m:t>+0.1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2</m:t>
                                </m:r>
                              </m:sub>
                            </m:sSub>
                            <m:r>
                              <a:rPr lang="uk-UA" i="1"/>
                              <m:t>+0.1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3</m:t>
                                </m:r>
                              </m:sub>
                            </m:sSub>
                            <m:r>
                              <a:rPr lang="uk-UA" i="1"/>
                              <m:t>+0.2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4</m:t>
                                </m:r>
                              </m:sub>
                            </m:sSub>
                            <m:r>
                              <a:rPr lang="uk-UA" i="1"/>
                              <m:t>=23.068</m:t>
                            </m:r>
                          </m:e>
                          <m:e>
                            <m:r>
                              <a:rPr lang="uk-UA" i="1"/>
                              <m:t>0.3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1</m:t>
                                </m:r>
                              </m:sub>
                            </m:sSub>
                            <m:r>
                              <a:rPr lang="uk-UA" i="1"/>
                              <m:t>+0.2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2</m:t>
                                </m:r>
                              </m:sub>
                            </m:sSub>
                            <m:r>
                              <a:rPr lang="uk-UA" i="1"/>
                              <m:t>+0.1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3</m:t>
                                </m:r>
                              </m:sub>
                            </m:sSub>
                            <m:r>
                              <a:rPr lang="uk-UA" i="1"/>
                              <m:t>+0.2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4</m:t>
                                </m:r>
                              </m:sub>
                            </m:sSub>
                            <m:r>
                              <a:rPr lang="uk-UA" i="1"/>
                              <m:t>=32.9294</m:t>
                            </m:r>
                          </m:e>
                          <m:e>
                            <m:r>
                              <a:rPr lang="uk-UA" i="1"/>
                              <m:t>0.1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1</m:t>
                                </m:r>
                              </m:sub>
                            </m:sSub>
                            <m:r>
                              <a:rPr lang="uk-UA" i="1"/>
                              <m:t>+0.3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2</m:t>
                                </m:r>
                              </m:sub>
                            </m:sSub>
                            <m:r>
                              <a:rPr lang="uk-UA" i="1"/>
                              <m:t>+0.2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3</m:t>
                                </m:r>
                              </m:sub>
                            </m:sSub>
                            <m:r>
                              <a:rPr lang="uk-UA" i="1"/>
                              <m:t>+0.3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4</m:t>
                                </m:r>
                              </m:sub>
                            </m:sSub>
                            <m:r>
                              <a:rPr lang="uk-UA" i="1"/>
                              <m:t>=37.6681</m:t>
                            </m:r>
                          </m:e>
                          <m:e>
                            <m:r>
                              <a:rPr lang="uk-UA" i="1"/>
                              <m:t>0.2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1</m:t>
                                </m:r>
                              </m:sub>
                            </m:sSub>
                            <m:r>
                              <a:rPr lang="uk-UA" i="1"/>
                              <m:t>+0.3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2</m:t>
                                </m:r>
                              </m:sub>
                            </m:sSub>
                            <m:r>
                              <a:rPr lang="uk-UA" i="1"/>
                              <m:t>+0.3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3</m:t>
                                </m:r>
                              </m:sub>
                            </m:sSub>
                            <m:r>
                              <a:rPr lang="uk-UA" i="1"/>
                              <m:t>+0.1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uk-UA" i="1"/>
                                  <m:t>4</m:t>
                                </m:r>
                              </m:sub>
                            </m:sSub>
                            <m:r>
                              <a:rPr lang="uk-UA" i="1"/>
                              <m:t>=38.6267</m:t>
                            </m:r>
                          </m:e>
                        </m:eqArr>
                      </m:e>
                    </m:d>
                  </m:oMath>
                </a14:m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Постановка </a:t>
                </a:r>
                <a:r>
                  <a:rPr lang="ru-RU" b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задачі</a:t>
                </a:r>
                <a:r>
                  <a:rPr lang="ru-RU" b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замінити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деякий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рядок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системи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новий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та провести </a:t>
                </a:r>
                <a:r>
                  <a:rPr lang="ru-RU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дослідження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5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304" y="1789386"/>
                <a:ext cx="10304254" cy="4635534"/>
              </a:xfrm>
              <a:blipFill>
                <a:blip r:embed="rId2"/>
                <a:stretch>
                  <a:fillRect l="-296" t="-1579" r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8180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1043304" y="1754927"/>
                <a:ext cx="10304254" cy="4635534"/>
              </a:xfrm>
            </p:spPr>
            <p:txBody>
              <a:bodyPr>
                <a:noAutofit/>
              </a:bodyPr>
              <a:lstStyle/>
              <a:p>
                <a:pPr marL="45720" indent="0"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Отримуємо </a:t>
                </a: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обернену 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матрицю:</a:t>
                </a:r>
              </a:p>
              <a:p>
                <a:pPr marL="4572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/>
                          </m:ctrlPr>
                        </m:accPr>
                        <m:e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r>
                                <a:rPr lang="en-US" i="1"/>
                                <m:t>𝐴</m:t>
                              </m:r>
                            </m:e>
                            <m:sup>
                              <m:r>
                                <a:rPr lang="ru-RU" i="1"/>
                                <m:t>−1</m:t>
                              </m:r>
                            </m:sup>
                          </m:sSup>
                        </m:e>
                      </m:acc>
                      <m:r>
                        <a:rPr lang="ru-RU" i="1"/>
                        <m:t>=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/>
                              </m:ctrlPr>
                            </m:mPr>
                            <m:mr>
                              <m:e>
                                <m:r>
                                  <a:rPr lang="ru-RU" i="1"/>
                                  <m:t>1.25</m:t>
                                </m:r>
                              </m:e>
                              <m:e>
                                <m:r>
                                  <a:rPr lang="ru-RU" i="1"/>
                                  <m:t>3.125</m:t>
                                </m:r>
                              </m:e>
                              <m:e>
                                <m:r>
                                  <a:rPr lang="ru-RU" i="1"/>
                                  <m:t>−3.125</m:t>
                                </m:r>
                              </m:e>
                              <m:e>
                                <m:r>
                                  <a:rPr lang="ru-RU" i="1"/>
                                  <m:t>0.625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/>
                                  <m:t>−11.25</m:t>
                                </m:r>
                              </m:e>
                              <m:e>
                                <m:r>
                                  <a:rPr lang="ru-RU" i="1"/>
                                  <m:t>6.875</m:t>
                                </m:r>
                              </m:e>
                              <m:e>
                                <m:r>
                                  <a:rPr lang="ru-RU" i="1"/>
                                  <m:t>3.125</m:t>
                                </m:r>
                              </m:e>
                              <m:e>
                                <m:r>
                                  <a:rPr lang="ru-RU" i="1"/>
                                  <m:t>−0.625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/>
                                  <m:t>8.75</m:t>
                                </m:r>
                              </m:e>
                              <m:e>
                                <m:r>
                                  <a:rPr lang="ru-RU" i="1"/>
                                  <m:t>−8.125</m:t>
                                </m:r>
                              </m:e>
                              <m:e>
                                <m:r>
                                  <a:rPr lang="ru-RU" i="1"/>
                                  <m:t>−1.875</m:t>
                                </m:r>
                              </m:e>
                              <m:e>
                                <m:r>
                                  <a:rPr lang="ru-RU" i="1"/>
                                  <m:t>4.375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/>
                                  <m:t>5</m:t>
                                </m:r>
                              </m:e>
                              <m:e>
                                <m:r>
                                  <a:rPr lang="ru-RU" i="1"/>
                                  <m:t>−2.5</m:t>
                                </m:r>
                              </m:e>
                              <m:e>
                                <m:r>
                                  <a:rPr lang="ru-RU" i="1"/>
                                  <m:t>2.5</m:t>
                                </m:r>
                              </m:e>
                              <m:e>
                                <m:r>
                                  <a:rPr lang="ru-RU" i="1"/>
                                  <m:t>−2.5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та </a:t>
                </a: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</a:t>
                </a:r>
                <a:r>
                  <a:rPr lang="uk-U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розв’язків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uk-UA" i="1"/>
                            <m:t>𝑢</m:t>
                          </m:r>
                        </m:e>
                        <m:sub>
                          <m:r>
                            <a:rPr lang="uk-UA" i="1"/>
                            <m:t>0</m:t>
                          </m:r>
                        </m:sub>
                      </m:sSub>
                      <m:r>
                        <a:rPr lang="uk-UA" i="1"/>
                        <m:t>=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eqArr>
                            <m:eqArrPr>
                              <m:ctrlPr>
                                <a:rPr lang="en-US" i="1"/>
                              </m:ctrlPr>
                            </m:eqArrPr>
                            <m:e>
                              <m:r>
                                <a:rPr lang="uk-UA" i="1"/>
                                <m:t>38.1682</m:t>
                              </m:r>
                            </m:e>
                            <m:e>
                              <m:r>
                                <a:rPr lang="uk-UA" i="1"/>
                                <m:t>60.4458</m:t>
                              </m:r>
                            </m:e>
                            <m:e>
                              <m:r>
                                <a:rPr lang="uk-UA" i="1"/>
                                <m:t>32.6577</m:t>
                              </m:r>
                            </m:e>
                            <m:e>
                              <m:r>
                                <a:rPr lang="uk-UA" i="1"/>
                                <m:t>30.62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5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304" y="1754927"/>
                <a:ext cx="10304254" cy="4635534"/>
              </a:xfrm>
              <a:blipFill>
                <a:blip r:embed="rId2"/>
                <a:stretch>
                  <a:fillRect l="-296" t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1601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1043304" y="1777787"/>
                <a:ext cx="10304254" cy="4635534"/>
              </a:xfrm>
            </p:spPr>
            <p:txBody>
              <a:bodyPr>
                <a:noAutofit/>
              </a:bodyPr>
              <a:lstStyle/>
              <a:p>
                <a:pPr marL="45720" indent="0">
                  <a:buNone/>
                </a:pP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Утворюємо нову матрицю: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/>
                          </m:ctrlPr>
                        </m:accPr>
                        <m:e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r>
                                <a:rPr lang="uk-UA" i="1"/>
                                <m:t>𝐴</m:t>
                              </m:r>
                            </m:e>
                            <m:sup>
                              <m:r>
                                <a:rPr lang="uk-UA" i="1"/>
                                <m:t>∗</m:t>
                              </m:r>
                            </m:sup>
                          </m:sSup>
                        </m:e>
                      </m:acc>
                      <m:r>
                        <a:rPr lang="uk-UA" i="1"/>
                        <m:t>=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/>
                              </m:ctrlPr>
                            </m:mPr>
                            <m:mr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−23.068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−32.9294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−37.6681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0.2</m:t>
                                </m:r>
                              </m:e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0.3</m:t>
                                </m:r>
                              </m:e>
                              <m:e>
                                <m:r>
                                  <a:rPr lang="uk-UA" i="1"/>
                                  <m:t>0.1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−38.6267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  <m:e>
                                <m:r>
                                  <a:rPr lang="uk-UA" i="1"/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1.25</m:t>
                                </m:r>
                              </m:e>
                              <m:e>
                                <m:r>
                                  <a:rPr lang="uk-UA" i="1"/>
                                  <m:t>3.125</m:t>
                                </m:r>
                              </m:e>
                              <m:e>
                                <m:r>
                                  <a:rPr lang="uk-UA" i="1"/>
                                  <m:t>−3.125</m:t>
                                </m:r>
                              </m:e>
                              <m:e>
                                <m:r>
                                  <a:rPr lang="uk-UA" i="1"/>
                                  <m:t>0.625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38.1682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−11.25</m:t>
                                </m:r>
                              </m:e>
                              <m:e>
                                <m:r>
                                  <a:rPr lang="uk-UA" i="1"/>
                                  <m:t>6.875</m:t>
                                </m:r>
                              </m:e>
                              <m:e>
                                <m:r>
                                  <a:rPr lang="uk-UA" i="1"/>
                                  <m:t>3.125</m:t>
                                </m:r>
                              </m:e>
                              <m:e>
                                <m:r>
                                  <a:rPr lang="uk-UA" i="1"/>
                                  <m:t>−0.625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60.4458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8.75</m:t>
                                </m:r>
                              </m:e>
                              <m:e>
                                <m:r>
                                  <a:rPr lang="uk-UA" i="1"/>
                                  <m:t>−8.125</m:t>
                                </m:r>
                              </m:e>
                              <m:e>
                                <m:r>
                                  <a:rPr lang="uk-UA" i="1"/>
                                  <m:t>−1.875</m:t>
                                </m:r>
                              </m:e>
                              <m:e>
                                <m:r>
                                  <a:rPr lang="uk-UA" i="1"/>
                                  <m:t>4.375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32.6577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i="1"/>
                                  <m:t>5</m:t>
                                </m:r>
                              </m:e>
                              <m:e>
                                <m:r>
                                  <a:rPr lang="uk-UA" i="1"/>
                                  <m:t>−2.5</m:t>
                                </m:r>
                              </m:e>
                              <m:e>
                                <m:r>
                                  <a:rPr lang="uk-UA" i="1"/>
                                  <m:t>2.5</m:t>
                                </m:r>
                              </m:e>
                              <m:e>
                                <m:r>
                                  <a:rPr lang="uk-UA" i="1"/>
                                  <m:t>−2.5</m:t>
                                </m:r>
                              </m:e>
                              <m:e>
                                <m:r>
                                  <a:rPr lang="uk-UA" i="1"/>
                                  <m:t>|</m:t>
                                </m:r>
                              </m:e>
                              <m:e>
                                <m:r>
                                  <a:rPr lang="uk-UA" i="1"/>
                                  <m:t>30.62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5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304" y="1777787"/>
                <a:ext cx="10304254" cy="4635534"/>
              </a:xfrm>
              <a:blipFill>
                <a:blip r:embed="rId2"/>
                <a:stretch>
                  <a:fillRect l="-296" t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9472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925984" y="1741215"/>
                <a:ext cx="10304254" cy="4635534"/>
              </a:xfrm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Обираємо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ряд, у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який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нові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коєфіцієнти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Нехай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обрано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ряд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із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порядковим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номером 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Замінюємо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даний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ряд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новими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коєфіцієнтами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наприклад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/>
                              </m:ctrlPr>
                            </m:mPr>
                            <m:mr>
                              <m:e>
                                <m:r>
                                  <a:rPr lang="uk-UA" sz="2400" i="1"/>
                                  <m:t>0.1</m:t>
                                </m:r>
                              </m:e>
                              <m:e>
                                <m:r>
                                  <a:rPr lang="uk-UA" sz="2400" i="1"/>
                                  <m:t>0.005</m:t>
                                </m:r>
                              </m:e>
                              <m:e>
                                <m:r>
                                  <a:rPr lang="uk-UA" sz="2400" i="1"/>
                                  <m:t>0.3</m:t>
                                </m:r>
                              </m:e>
                              <m:e>
                                <m:r>
                                  <a:rPr lang="uk-UA" sz="2400" i="1"/>
                                  <m:t>0.3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Перераховуємо нев’язку збуреного 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рядка:</a:t>
                </a:r>
              </a:p>
              <a:p>
                <a:pPr marL="45720" indent="0">
                  <a:buNone/>
                </a:pPr>
                <a:endParaRPr lang="uk-UA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/>
                          </m:ctrlPr>
                        </m:sSubPr>
                        <m:e>
                          <m:r>
                            <a:rPr lang="en-US" sz="2400" i="1"/>
                            <m:t>∆</m:t>
                          </m:r>
                        </m:e>
                        <m:sub>
                          <m:r>
                            <a:rPr lang="en-US" sz="2400" i="1"/>
                            <m:t>𝑘</m:t>
                          </m:r>
                        </m:sub>
                      </m:sSub>
                      <m:r>
                        <a:rPr lang="en-US" sz="2400" i="1"/>
                        <m:t>=2.7544</m:t>
                      </m:r>
                    </m:oMath>
                  </m:oMathPara>
                </a14:m>
                <a:endParaRPr lang="en-US" sz="2400" dirty="0"/>
              </a:p>
              <a:p>
                <a:pPr marL="4572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5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5984" y="1741215"/>
                <a:ext cx="10304254" cy="4635534"/>
              </a:xfrm>
              <a:blipFill>
                <a:blip r:embed="rId2"/>
                <a:stretch>
                  <a:fillRect l="-296" t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3471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Объект 8"/>
              <p:cNvSpPr>
                <a:spLocks noGrp="1"/>
              </p:cNvSpPr>
              <p:nvPr>
                <p:ph idx="1"/>
              </p:nvPr>
            </p:nvSpPr>
            <p:spPr>
              <a:xfrm>
                <a:off x="1043304" y="1777787"/>
                <a:ext cx="10304254" cy="4635534"/>
              </a:xfrm>
            </p:spPr>
            <p:txBody>
              <a:bodyPr>
                <a:noAutofit/>
              </a:bodyPr>
              <a:lstStyle/>
              <a:p>
                <a:pPr marL="45720" indent="0">
                  <a:buNone/>
                </a:pP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Застос</a:t>
                </a:r>
                <a:r>
                  <a:rPr lang="uk-UA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уємо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одну </a:t>
                </a: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ітерацію методу базисних матриць для першого ряду.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r>
                  <a:rPr lang="uk-U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Отримуємо результат</a:t>
                </a:r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/>
                        </m:ctrlPr>
                      </m:accPr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uk-UA" i="1"/>
                              <m:t>𝐴</m:t>
                            </m:r>
                          </m:e>
                          <m:sup>
                            <m:r>
                              <a:rPr lang="uk-UA" i="1"/>
                              <m:t>∗</m:t>
                            </m:r>
                          </m:sup>
                        </m:sSup>
                      </m:e>
                    </m:acc>
                    <m:r>
                      <a:rPr lang="uk-UA" i="1"/>
                      <m:t>=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uk-UA" i="1"/>
                                <m:t>1</m:t>
                              </m:r>
                            </m:e>
                            <m:e>
                              <m:r>
                                <a:rPr lang="uk-UA" i="1"/>
                                <m:t>0</m:t>
                              </m:r>
                            </m:e>
                            <m:e>
                              <m:r>
                                <a:rPr lang="uk-UA" i="1"/>
                                <m:t>0</m:t>
                              </m:r>
                            </m:e>
                            <m:e>
                              <m:r>
                                <a:rPr lang="uk-UA" i="1"/>
                                <m:t>0</m:t>
                              </m:r>
                            </m:e>
                            <m:e>
                              <m:r>
                                <a:rPr lang="uk-UA" i="1"/>
                                <m:t>|</m:t>
                              </m:r>
                            </m:e>
                            <m:e>
                              <m:r>
                                <a:rPr lang="uk-UA" i="1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uk-UA" i="1"/>
                                <m:t>0.081</m:t>
                              </m:r>
                            </m:e>
                            <m:e>
                              <m:r>
                                <a:rPr lang="uk-UA" i="1"/>
                                <m:t>0.406</m:t>
                              </m:r>
                            </m:e>
                            <m:e>
                              <m:r>
                                <a:rPr lang="uk-UA" i="1"/>
                                <m:t>0.097</m:t>
                              </m:r>
                            </m:e>
                            <m:e>
                              <m:r>
                                <a:rPr lang="uk-UA" i="1"/>
                                <m:t>0.152</m:t>
                              </m:r>
                            </m:e>
                            <m:e>
                              <m:r>
                                <a:rPr lang="uk-UA" i="1"/>
                                <m:t>|</m:t>
                              </m:r>
                            </m:e>
                            <m:e>
                              <m:r>
                                <a:rPr lang="uk-UA" i="1"/>
                                <m:t>−33.1535</m:t>
                              </m:r>
                            </m:e>
                          </m:mr>
                          <m:mr>
                            <m:e>
                              <m:r>
                                <a:rPr lang="uk-UA" i="1"/>
                                <m:t>0.27</m:t>
                              </m:r>
                            </m:e>
                            <m:e>
                              <m:r>
                                <a:rPr lang="uk-UA" i="1"/>
                                <m:t>0.369</m:t>
                              </m:r>
                            </m:e>
                            <m:e>
                              <m:r>
                                <a:rPr lang="uk-UA" i="1"/>
                                <m:t>0.199</m:t>
                              </m:r>
                            </m:e>
                            <m:e>
                              <m:r>
                                <a:rPr lang="uk-UA" i="1"/>
                                <m:t>0.284</m:t>
                              </m:r>
                            </m:e>
                            <m:e>
                              <m:r>
                                <a:rPr lang="uk-UA" i="1"/>
                                <m:t>|</m:t>
                              </m:r>
                            </m:e>
                            <m:e>
                              <m:r>
                                <a:rPr lang="uk-UA" i="1"/>
                                <m:t>−37.7428</m:t>
                              </m:r>
                            </m:e>
                          </m:mr>
                          <m:mr>
                            <m:e>
                              <m:r>
                                <a:rPr lang="uk-UA" i="1"/>
                                <m:t>0.054</m:t>
                              </m:r>
                            </m:e>
                            <m:e>
                              <m:r>
                                <a:rPr lang="uk-UA" i="1"/>
                                <m:t>0.437</m:t>
                              </m:r>
                            </m:e>
                            <m:e>
                              <m:r>
                                <a:rPr lang="uk-UA" i="1"/>
                                <m:t>0.298</m:t>
                              </m:r>
                            </m:e>
                            <m:e>
                              <m:r>
                                <a:rPr lang="uk-UA" i="1"/>
                                <m:t>0.068</m:t>
                              </m:r>
                            </m:e>
                            <m:e>
                              <m:r>
                                <a:rPr lang="uk-UA" i="1"/>
                                <m:t>|</m:t>
                              </m:r>
                            </m:e>
                            <m:e>
                              <m:r>
                                <a:rPr lang="uk-UA" i="1"/>
                                <m:t>−38.7761</m:t>
                              </m:r>
                            </m:e>
                          </m:mr>
                          <m:mr>
                            <m:e>
                              <m:r>
                                <a:rPr lang="uk-UA" i="1"/>
                                <m:t>−</m:t>
                              </m:r>
                            </m:e>
                            <m:e>
                              <m:r>
                                <a:rPr lang="uk-UA" i="1"/>
                                <m:t>−</m:t>
                              </m:r>
                            </m:e>
                            <m:e>
                              <m:r>
                                <a:rPr lang="uk-UA" i="1"/>
                                <m:t>−</m:t>
                              </m:r>
                            </m:e>
                            <m:e>
                              <m:r>
                                <a:rPr lang="uk-UA" i="1"/>
                                <m:t>−</m:t>
                              </m:r>
                            </m:e>
                            <m:e>
                              <m:r>
                                <a:rPr lang="uk-UA" i="1"/>
                                <m:t>−</m:t>
                              </m:r>
                            </m:e>
                            <m:e>
                              <m:r>
                                <a:rPr lang="uk-UA" i="1"/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uk-UA" i="1"/>
                                <m:t>0.339</m:t>
                              </m:r>
                            </m:e>
                            <m:e>
                              <m:r>
                                <a:rPr lang="uk-UA" i="1"/>
                                <m:t>3.983</m:t>
                              </m:r>
                            </m:e>
                            <m:e>
                              <m:r>
                                <a:rPr lang="uk-UA" i="1"/>
                                <m:t>−3.136</m:t>
                              </m:r>
                            </m:e>
                            <m:e>
                              <m:r>
                                <a:rPr lang="uk-UA" i="1"/>
                                <m:t>0.424</m:t>
                              </m:r>
                            </m:e>
                            <m:e>
                              <m:r>
                                <a:rPr lang="uk-UA" i="1"/>
                                <m:t>|</m:t>
                              </m:r>
                            </m:e>
                            <m:e>
                              <m:r>
                                <a:rPr lang="uk-UA" i="1"/>
                                <m:t>37.2345</m:t>
                              </m:r>
                            </m:e>
                          </m:mr>
                          <m:mr>
                            <m:e>
                              <m:r>
                                <a:rPr lang="uk-UA" i="1"/>
                                <m:t>−3.051</m:t>
                              </m:r>
                            </m:e>
                            <m:e>
                              <m:r>
                                <a:rPr lang="uk-UA" i="1"/>
                                <m:t>−0.847</m:t>
                              </m:r>
                            </m:e>
                            <m:e>
                              <m:r>
                                <a:rPr lang="uk-UA" i="1"/>
                                <m:t>3.33</m:t>
                              </m:r>
                            </m:e>
                            <m:e>
                              <m:r>
                                <a:rPr lang="uk-UA" i="1"/>
                                <m:t>1.18</m:t>
                              </m:r>
                            </m:e>
                            <m:e>
                              <m:r>
                                <a:rPr lang="uk-UA" i="1"/>
                                <m:t>|</m:t>
                              </m:r>
                            </m:e>
                            <m:e>
                              <m:r>
                                <a:rPr lang="uk-UA" i="1"/>
                                <m:t>68.8491</m:t>
                              </m:r>
                            </m:e>
                          </m:mr>
                          <m:mr>
                            <m:e>
                              <m:r>
                                <a:rPr lang="uk-UA" i="1"/>
                                <m:t>2.373</m:t>
                              </m:r>
                            </m:e>
                            <m:e>
                              <m:r>
                                <a:rPr lang="uk-UA" i="1"/>
                                <m:t>−2.119</m:t>
                              </m:r>
                            </m:e>
                            <m:e>
                              <m:r>
                                <a:rPr lang="uk-UA" i="1"/>
                                <m:t>2.949</m:t>
                              </m:r>
                            </m:e>
                            <m:e>
                              <m:r>
                                <a:rPr lang="uk-UA" i="1"/>
                                <m:t>2.966</m:t>
                              </m:r>
                            </m:e>
                            <m:e>
                              <m:r>
                                <a:rPr lang="uk-UA" i="1"/>
                                <m:t>|</m:t>
                              </m:r>
                            </m:e>
                            <m:e>
                              <m:r>
                                <a:rPr lang="uk-UA" i="1"/>
                                <m:t>26.1218</m:t>
                              </m:r>
                            </m:e>
                          </m:mr>
                          <m:mr>
                            <m:e>
                              <m:r>
                                <a:rPr lang="uk-UA" i="1"/>
                                <m:t>1.356</m:t>
                              </m:r>
                            </m:e>
                            <m:e>
                              <m:r>
                                <a:rPr lang="uk-UA" i="1"/>
                                <m:t>0.932</m:t>
                              </m:r>
                            </m:e>
                            <m:e>
                              <m:r>
                                <a:rPr lang="uk-UA" i="1"/>
                                <m:t>2.458</m:t>
                              </m:r>
                            </m:e>
                            <m:e>
                              <m:r>
                                <a:rPr lang="uk-UA" i="1"/>
                                <m:t>−3.305</m:t>
                              </m:r>
                            </m:e>
                            <m:e>
                              <m:r>
                                <a:rPr lang="uk-UA" i="1"/>
                                <m:t>|</m:t>
                              </m:r>
                            </m:e>
                            <m:e>
                              <m:r>
                                <a:rPr lang="uk-UA" i="1"/>
                                <m:t>26.8852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uk-UA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uk-UA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uk-UA" i="1"/>
                          <m:t>𝑢</m:t>
                        </m:r>
                      </m:e>
                      <m:sub>
                        <m:r>
                          <a:rPr lang="uk-UA" i="1"/>
                          <m:t>0</m:t>
                        </m:r>
                      </m:sub>
                      <m:sup>
                        <m:r>
                          <a:rPr lang="uk-UA" i="1"/>
                          <m:t>∗</m:t>
                        </m:r>
                      </m:sup>
                    </m:sSubSup>
                    <m:r>
                      <a:rPr lang="uk-UA" i="1"/>
                      <m:t>=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eqArr>
                          <m:eqArrPr>
                            <m:ctrlPr>
                              <a:rPr lang="en-US" i="1"/>
                            </m:ctrlPr>
                          </m:eqArrPr>
                          <m:e>
                            <m:r>
                              <a:rPr lang="uk-UA" i="1"/>
                              <m:t>37.2345</m:t>
                            </m:r>
                          </m:e>
                          <m:e>
                            <m:r>
                              <a:rPr lang="uk-UA" i="1"/>
                              <m:t>68.8491</m:t>
                            </m:r>
                          </m:e>
                          <m:e>
                            <m:r>
                              <a:rPr lang="uk-UA" i="1"/>
                              <m:t>26.1218</m:t>
                            </m:r>
                          </m:e>
                          <m:e>
                            <m:r>
                              <a:rPr lang="uk-UA" i="1"/>
                              <m:t>26.8852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4572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>
                  <a:buNone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/>
              </a:p>
              <a:p>
                <a:pPr marL="45720" indent="0" algn="just">
                  <a:lnSpc>
                    <a:spcPct val="10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5" name="Объект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304" y="1777787"/>
                <a:ext cx="10304254" cy="4635534"/>
              </a:xfrm>
              <a:blipFill>
                <a:blip r:embed="rId2"/>
                <a:stretch>
                  <a:fillRect l="-296" t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3080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С++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1" name="Рисунок 40"/>
          <p:cNvPicPr/>
          <p:nvPr/>
        </p:nvPicPr>
        <p:blipFill>
          <a:blip r:embed="rId2"/>
          <a:stretch>
            <a:fillRect/>
          </a:stretch>
        </p:blipFill>
        <p:spPr>
          <a:xfrm>
            <a:off x="984023" y="2140139"/>
            <a:ext cx="5114925" cy="33718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2" name="Рисунок 41"/>
          <p:cNvPicPr/>
          <p:nvPr/>
        </p:nvPicPr>
        <p:blipFill>
          <a:blip r:embed="rId3"/>
          <a:stretch>
            <a:fillRect/>
          </a:stretch>
        </p:blipFill>
        <p:spPr>
          <a:xfrm>
            <a:off x="6249163" y="2140138"/>
            <a:ext cx="5114925" cy="33535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4568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С++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937972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" name="Рисунок 38"/>
          <p:cNvPicPr/>
          <p:nvPr/>
        </p:nvPicPr>
        <p:blipFill>
          <a:blip r:embed="rId2"/>
          <a:stretch>
            <a:fillRect/>
          </a:stretch>
        </p:blipFill>
        <p:spPr>
          <a:xfrm>
            <a:off x="3647911" y="1717528"/>
            <a:ext cx="4860399" cy="16958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Рисунок 39"/>
          <p:cNvPicPr/>
          <p:nvPr/>
        </p:nvPicPr>
        <p:blipFill>
          <a:blip r:embed="rId3"/>
          <a:stretch>
            <a:fillRect/>
          </a:stretch>
        </p:blipFill>
        <p:spPr>
          <a:xfrm>
            <a:off x="2534173" y="3570875"/>
            <a:ext cx="7087874" cy="2529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59962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С++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39005" y="4923638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1" name="Рисунок 40"/>
          <p:cNvPicPr/>
          <p:nvPr/>
        </p:nvPicPr>
        <p:blipFill>
          <a:blip r:embed="rId2"/>
          <a:stretch>
            <a:fillRect/>
          </a:stretch>
        </p:blipFill>
        <p:spPr>
          <a:xfrm>
            <a:off x="2247795" y="2254675"/>
            <a:ext cx="7696409" cy="7765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2" name="Рисунок 41"/>
          <p:cNvPicPr/>
          <p:nvPr/>
        </p:nvPicPr>
        <p:blipFill>
          <a:blip r:embed="rId3"/>
          <a:stretch>
            <a:fillRect/>
          </a:stretch>
        </p:blipFill>
        <p:spPr>
          <a:xfrm>
            <a:off x="3581621" y="3413181"/>
            <a:ext cx="5439388" cy="21331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69567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С++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39005" y="4923638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444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" name="Рисунок 38"/>
          <p:cNvPicPr/>
          <p:nvPr/>
        </p:nvPicPr>
        <p:blipFill>
          <a:blip r:embed="rId2"/>
          <a:stretch>
            <a:fillRect/>
          </a:stretch>
        </p:blipFill>
        <p:spPr>
          <a:xfrm>
            <a:off x="2842616" y="1708334"/>
            <a:ext cx="6538913" cy="15390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Рисунок 39"/>
          <p:cNvPicPr/>
          <p:nvPr/>
        </p:nvPicPr>
        <p:blipFill>
          <a:blip r:embed="rId3"/>
          <a:stretch>
            <a:fillRect/>
          </a:stretch>
        </p:blipFill>
        <p:spPr>
          <a:xfrm>
            <a:off x="866294" y="3333441"/>
            <a:ext cx="5292235" cy="29387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3" name="Рисунок 42"/>
          <p:cNvPicPr/>
          <p:nvPr/>
        </p:nvPicPr>
        <p:blipFill>
          <a:blip r:embed="rId4"/>
          <a:stretch>
            <a:fillRect/>
          </a:stretch>
        </p:blipFill>
        <p:spPr>
          <a:xfrm>
            <a:off x="6248400" y="3327984"/>
            <a:ext cx="5285684" cy="29442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15034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Модельний приклад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 Excel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61612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894744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9" name="Рисунок 3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899" y="1772640"/>
            <a:ext cx="7037387" cy="2862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0" name="Рисунок 3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900" y="2621280"/>
            <a:ext cx="7037386" cy="21379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5053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580571"/>
            <a:ext cx="9875520" cy="928915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Висновок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541486" y="1509486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03057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013140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830769" y="32835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152400" y="485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29876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429876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281335" y="47497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81335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96046" y="1695496"/>
            <a:ext cx="215434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298765" y="2835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8759001" y="29926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281335" y="4894744"/>
            <a:ext cx="21069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4696046" y="38413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346650" y="5370367"/>
            <a:ext cx="315755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Rectangle 23"/>
          <p:cNvSpPr>
            <a:spLocks noChangeArrowheads="1"/>
          </p:cNvSpPr>
          <p:nvPr/>
        </p:nvSpPr>
        <p:spPr bwMode="auto">
          <a:xfrm>
            <a:off x="3581621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6" name="Rectangle 42"/>
          <p:cNvSpPr>
            <a:spLocks noChangeArrowheads="1"/>
          </p:cNvSpPr>
          <p:nvPr/>
        </p:nvSpPr>
        <p:spPr bwMode="auto">
          <a:xfrm>
            <a:off x="5013140" y="37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8" name="Rectangle 44"/>
          <p:cNvSpPr>
            <a:spLocks noChangeArrowheads="1"/>
          </p:cNvSpPr>
          <p:nvPr/>
        </p:nvSpPr>
        <p:spPr bwMode="auto">
          <a:xfrm>
            <a:off x="1286566" y="4049835"/>
            <a:ext cx="14788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552834" y="42689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" name="Rectangle 48"/>
          <p:cNvSpPr>
            <a:spLocks noChangeArrowheads="1"/>
          </p:cNvSpPr>
          <p:nvPr/>
        </p:nvSpPr>
        <p:spPr bwMode="auto">
          <a:xfrm>
            <a:off x="4316454" y="44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830769" y="4456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6" name="Rectangle 52"/>
          <p:cNvSpPr>
            <a:spLocks noChangeArrowheads="1"/>
          </p:cNvSpPr>
          <p:nvPr/>
        </p:nvSpPr>
        <p:spPr bwMode="auto">
          <a:xfrm>
            <a:off x="1291992" y="50831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8" name="Rectangle 54"/>
          <p:cNvSpPr>
            <a:spLocks noChangeArrowheads="1"/>
          </p:cNvSpPr>
          <p:nvPr/>
        </p:nvSpPr>
        <p:spPr bwMode="auto">
          <a:xfrm>
            <a:off x="1288363" y="53798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3197680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2" name="Rectangle 58"/>
          <p:cNvSpPr>
            <a:spLocks noChangeArrowheads="1"/>
          </p:cNvSpPr>
          <p:nvPr/>
        </p:nvSpPr>
        <p:spPr bwMode="auto">
          <a:xfrm>
            <a:off x="1286566" y="54936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60"/>
          <p:cNvSpPr>
            <a:spLocks noChangeArrowheads="1"/>
          </p:cNvSpPr>
          <p:nvPr/>
        </p:nvSpPr>
        <p:spPr bwMode="auto">
          <a:xfrm>
            <a:off x="2842616" y="54295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Rectangle 89"/>
          <p:cNvSpPr>
            <a:spLocks noChangeArrowheads="1"/>
          </p:cNvSpPr>
          <p:nvPr/>
        </p:nvSpPr>
        <p:spPr bwMode="auto">
          <a:xfrm>
            <a:off x="4770387" y="56446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8" name="Rectangle 91"/>
          <p:cNvSpPr>
            <a:spLocks noChangeArrowheads="1"/>
          </p:cNvSpPr>
          <p:nvPr/>
        </p:nvSpPr>
        <p:spPr bwMode="auto">
          <a:xfrm>
            <a:off x="6272362" y="56765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210021" y="1690352"/>
                <a:ext cx="7467600" cy="15685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k-UA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uk-UA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uk-UA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uk-UA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38.1682</m:t>
                            </m:r>
                          </m:e>
                          <m:e>
                            <m:r>
                              <a:rPr lang="uk-UA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60.4458</m:t>
                            </m:r>
                          </m:e>
                          <m:e>
                            <m:r>
                              <a:rPr lang="uk-UA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32.6577</m:t>
                            </m:r>
                          </m:e>
                          <m:e>
                            <m:r>
                              <a:rPr lang="uk-UA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30.62</m:t>
                            </m:r>
                          </m:e>
                        </m:eqArr>
                      </m:e>
                    </m:d>
                  </m:oMath>
                </a14:m>
                <a:r>
                  <a:rPr lang="uk-UA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uk-UA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k-UA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uk-UA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uk-UA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uk-UA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uk-UA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37.2345</m:t>
                            </m:r>
                          </m:e>
                          <m:e>
                            <m:r>
                              <a:rPr lang="uk-UA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68.8491</m:t>
                            </m:r>
                          </m:e>
                          <m:e>
                            <m:r>
                              <a:rPr lang="uk-UA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26.1218</m:t>
                            </m:r>
                          </m:e>
                          <m:e>
                            <m:r>
                              <a:rPr lang="uk-UA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26.8852</m:t>
                            </m:r>
                          </m:e>
                        </m:eqArr>
                      </m:e>
                    </m:d>
                  </m:oMath>
                </a14:m>
                <a:endParaRPr lang="en-US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021" y="1690352"/>
                <a:ext cx="7467600" cy="15685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286566" y="4177089"/>
            <a:ext cx="10214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Зміна коефіцієнтів вихідної технологічної матриці обумовлює зміни вектору валового галузевого випуску основного та допоміжного </a:t>
            </a:r>
            <a:r>
              <a:rPr lang="uk-UA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виробництв.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4635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1561" y="593105"/>
            <a:ext cx="11042073" cy="1356360"/>
          </a:xfrm>
        </p:spPr>
        <p:txBody>
          <a:bodyPr>
            <a:normAutofit/>
          </a:bodyPr>
          <a:lstStyle/>
          <a:p>
            <a:pPr algn="ctr"/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ДЯКУЄМО ЗА УВАГУ!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402597" y="1949465"/>
            <a:ext cx="508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6260" y="2528601"/>
            <a:ext cx="49665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uk-UA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ел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	093-18-31-210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Email:       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marina.antonevich@gmail.com</a:t>
            </a:r>
          </a:p>
          <a:p>
            <a:r>
              <a:rPr lang="uk-UA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Антоневич Марина Миколаївна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6260" y="4278808"/>
            <a:ext cx="4415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uk-UA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ел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	096-57-55-685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Email:       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377337733@ukr.net</a:t>
            </a:r>
          </a:p>
          <a:p>
            <a:r>
              <a:rPr lang="uk-UA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Дідик</a:t>
            </a:r>
            <a:r>
              <a:rPr lang="uk-UA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Анна Андріївна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4474" y="2528601"/>
            <a:ext cx="4895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uk-UA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ел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066-71-11-334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Email:       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tomaanatolievna23@gmail.com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Копчик Тамара Анатоліївна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4475" y="4278807"/>
            <a:ext cx="4895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uk-UA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ел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	098-64-70-789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Email:       </a:t>
            </a:r>
            <a:r>
              <a:rPr lang="uk-UA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ds231099@gmail.com</a:t>
            </a:r>
          </a:p>
          <a:p>
            <a:r>
              <a:rPr lang="uk-UA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Семенюк Дар'я Юріївна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803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TM03457444[[fn=Основа]]</Template>
  <TotalTime>958</TotalTime>
  <Words>1081</Words>
  <Application>Microsoft Office PowerPoint</Application>
  <PresentationFormat>Широкоэкранный</PresentationFormat>
  <Paragraphs>245</Paragraphs>
  <Slides>55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55</vt:i4>
      </vt:variant>
    </vt:vector>
  </HeadingPairs>
  <TitlesOfParts>
    <vt:vector size="63" baseType="lpstr">
      <vt:lpstr>Arial</vt:lpstr>
      <vt:lpstr>Calibri</vt:lpstr>
      <vt:lpstr>Cambria Math</vt:lpstr>
      <vt:lpstr>Corbel</vt:lpstr>
      <vt:lpstr>Times New Roman</vt:lpstr>
      <vt:lpstr>Базис</vt:lpstr>
      <vt:lpstr>Equation.DSMT4</vt:lpstr>
      <vt:lpstr>Уравнение</vt:lpstr>
      <vt:lpstr>метод ШТУЧНИХ базисних матриць  для вирішення задач Еволюційного МОДЕЛЮВАННЯ СКЛАДОВИХ ЕКОЛОГО-ЕКОНОМІЧНОЇ СТРАТЕГІЇ МІЖГАЛУЗЕВОЇ ВЗАЄМОДІЇ </vt:lpstr>
      <vt:lpstr>Зміст роботи</vt:lpstr>
      <vt:lpstr>Опис предметної сфери</vt:lpstr>
      <vt:lpstr>ЕКОЛОГІЧНО-ЕКОНОМІЧНА СКЛАДОВА</vt:lpstr>
      <vt:lpstr>Екологічно-економічна складова</vt:lpstr>
      <vt:lpstr>Екологічно-економічна складова</vt:lpstr>
      <vt:lpstr>Екологічно-економічна складова</vt:lpstr>
      <vt:lpstr>Екологічно-економічна складова</vt:lpstr>
      <vt:lpstr>МАТЕМАТИЧНЕ МОДЕЛЮВАННЯ ЕКОЛОГІЧНО-ЕКОНОМІЧНОЇ ВЗАЄМОДІЇ</vt:lpstr>
      <vt:lpstr>Математичне моделювання</vt:lpstr>
      <vt:lpstr>Презентация PowerPoint</vt:lpstr>
      <vt:lpstr>Математичне моделювання</vt:lpstr>
      <vt:lpstr>Математичне моделювання</vt:lpstr>
      <vt:lpstr>Математичне моделювання</vt:lpstr>
      <vt:lpstr>Векторно-матричне представлення</vt:lpstr>
      <vt:lpstr>Математичне моделювання</vt:lpstr>
      <vt:lpstr>Математичне моделювання</vt:lpstr>
      <vt:lpstr>Математичне моделювання</vt:lpstr>
      <vt:lpstr>Математичне моделювання</vt:lpstr>
      <vt:lpstr>Математичне моделювання</vt:lpstr>
      <vt:lpstr>Математичне моделювання</vt:lpstr>
      <vt:lpstr>АЛГОРИТМ І РЕАЛІЗАЦІЯ</vt:lpstr>
      <vt:lpstr>Алгоритм</vt:lpstr>
      <vt:lpstr>Алгоритм</vt:lpstr>
      <vt:lpstr>Алгоритм</vt:lpstr>
      <vt:lpstr>Алгоритм</vt:lpstr>
      <vt:lpstr>Модельний приклад</vt:lpstr>
      <vt:lpstr>Модельний приклад</vt:lpstr>
      <vt:lpstr>Модельний приклад</vt:lpstr>
      <vt:lpstr>Модельний приклад</vt:lpstr>
      <vt:lpstr>Модельний приклад</vt:lpstr>
      <vt:lpstr>Модельний приклад</vt:lpstr>
      <vt:lpstr>Модельний приклад</vt:lpstr>
      <vt:lpstr>Модельний приклад</vt:lpstr>
      <vt:lpstr>Модельний приклад</vt:lpstr>
      <vt:lpstr>Модельний приклад С++</vt:lpstr>
      <vt:lpstr>Модельний приклад С++</vt:lpstr>
      <vt:lpstr>Модельний приклад С++</vt:lpstr>
      <vt:lpstr>Модельний приклад С++</vt:lpstr>
      <vt:lpstr>Модельний приклад MS Excel</vt:lpstr>
      <vt:lpstr>Алгоритм до дослідження системи, у якій змінюються коефіцієнти</vt:lpstr>
      <vt:lpstr>Алгоритм до дослідження системи, у якій змінюються коефіцієнти</vt:lpstr>
      <vt:lpstr>Алгоритм до дослідження системи, у якій змінюються коефіцієнти</vt:lpstr>
      <vt:lpstr>Модельний приклад</vt:lpstr>
      <vt:lpstr>Модельний приклад</vt:lpstr>
      <vt:lpstr>Модельний приклад</vt:lpstr>
      <vt:lpstr>Модельний приклад</vt:lpstr>
      <vt:lpstr>Модельний приклад</vt:lpstr>
      <vt:lpstr>Модельний приклад С++</vt:lpstr>
      <vt:lpstr>Модельний приклад С++</vt:lpstr>
      <vt:lpstr>Модельний приклад С++</vt:lpstr>
      <vt:lpstr>Модельний приклад С++</vt:lpstr>
      <vt:lpstr>Модельний приклад MS Excel</vt:lpstr>
      <vt:lpstr>Висновок</vt:lpstr>
      <vt:lpstr>ДЯКУЄМО ЗА УВАГУ!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ЕВОЛЮЦІЙНЕ МОДЕЛЮВАННЯ СКЛАДОВИХ ЕКОЛОГО-ЕКОНОМІЧНОЇ СТРАТЕГІЇ МІЖГАЛУЗЕВОЇ ВЗАЄМОДІЇ</dc:title>
  <dc:creator>Admin</dc:creator>
  <cp:lastModifiedBy>Admin</cp:lastModifiedBy>
  <cp:revision>97</cp:revision>
  <dcterms:created xsi:type="dcterms:W3CDTF">2018-11-17T14:04:49Z</dcterms:created>
  <dcterms:modified xsi:type="dcterms:W3CDTF">2018-11-19T22:16:08Z</dcterms:modified>
</cp:coreProperties>
</file>